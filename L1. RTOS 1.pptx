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417" r:id="rId2"/>
    <p:sldId id="1737" r:id="rId3"/>
    <p:sldId id="1739" r:id="rId4"/>
    <p:sldId id="1791" r:id="rId5"/>
    <p:sldId id="1651" r:id="rId6"/>
    <p:sldId id="1792" r:id="rId7"/>
    <p:sldId id="1754" r:id="rId8"/>
    <p:sldId id="1755" r:id="rId9"/>
    <p:sldId id="1774" r:id="rId10"/>
    <p:sldId id="1756" r:id="rId11"/>
    <p:sldId id="1742" r:id="rId12"/>
    <p:sldId id="1743" r:id="rId13"/>
    <p:sldId id="1767" r:id="rId14"/>
    <p:sldId id="1776" r:id="rId15"/>
    <p:sldId id="1777" r:id="rId16"/>
    <p:sldId id="1778" r:id="rId17"/>
    <p:sldId id="1779" r:id="rId18"/>
    <p:sldId id="1770" r:id="rId19"/>
    <p:sldId id="1772" r:id="rId20"/>
    <p:sldId id="1773" r:id="rId21"/>
    <p:sldId id="1753" r:id="rId22"/>
    <p:sldId id="1762" r:id="rId23"/>
    <p:sldId id="1775" r:id="rId24"/>
    <p:sldId id="1763" r:id="rId25"/>
    <p:sldId id="1758" r:id="rId26"/>
    <p:sldId id="1783" r:id="rId27"/>
    <p:sldId id="1759" r:id="rId28"/>
    <p:sldId id="416" r:id="rId29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83"/>
    <p:restoredTop sz="78885" autoAdjust="0"/>
  </p:normalViewPr>
  <p:slideViewPr>
    <p:cSldViewPr snapToGrid="0">
      <p:cViewPr varScale="1">
        <p:scale>
          <a:sx n="127" d="100"/>
          <a:sy n="127" d="100"/>
        </p:scale>
        <p:origin x="228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04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EE58BA0-99CC-4A05-8840-957D99EE7CC8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79CD858-6556-4886-9903-45E9B7BDF7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55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501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471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36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889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21FF8-81A2-6AB7-5CF0-11C6F932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55D1F3-0D80-3F94-48E2-78C855577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661ED1-C64E-2086-3F51-5BEB147C9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A750AE-9D11-9433-B14D-12A0D8518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613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133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884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119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009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016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FF4F6-488F-EFA5-9593-75DD8A2A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650F2C-90EC-B085-117F-63A9F119D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83C5FE-EFC7-328C-D339-739E9086D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AC9061-C4E8-8A30-4403-6AD4C97CE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064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3D99D-1F0A-7B87-CB2C-6902768F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F30E00-0573-0CD9-3353-C85FB859B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496530-D14C-4DC7-6EA1-6959F16CB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2B0A4A-57E3-D794-7046-1C49FED82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03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1F252-022F-F35A-96F7-7799D3EFC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F72A93-DAC7-BDD1-D026-7288EE591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E23D72-05CA-6EBB-3BB9-4652CC959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5F5E12-CA4B-2263-95D3-EDC4B9DCA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412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FE0C-D6D7-701F-6ECA-1CA9C886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B91A9D-8641-5D6D-FCA7-08BDDEC9A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53ACE1-F938-B1F5-CDE6-713E3E671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2958F8-45A7-06DD-EE13-B67D6D770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617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287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639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843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077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68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184591-6BBF-4740-BA7D-5D01120834FA}"/>
              </a:ext>
            </a:extLst>
          </p:cNvPr>
          <p:cNvSpPr/>
          <p:nvPr userDrawn="1"/>
        </p:nvSpPr>
        <p:spPr>
          <a:xfrm>
            <a:off x="152400" y="152401"/>
            <a:ext cx="11875911" cy="6547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B5012-A287-4018-A514-B24F41023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857993-A09A-4126-9EDC-8B0DFF245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989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F9E4A0D-49C2-42B0-A6FA-716E3679A5EC}"/>
              </a:ext>
            </a:extLst>
          </p:cNvPr>
          <p:cNvSpPr/>
          <p:nvPr userDrawn="1"/>
        </p:nvSpPr>
        <p:spPr>
          <a:xfrm>
            <a:off x="0" y="1"/>
            <a:ext cx="12192000" cy="8790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5F8DE87-3981-4835-BA81-7516A4F6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21" y="66261"/>
            <a:ext cx="11525958" cy="759791"/>
          </a:xfrm>
        </p:spPr>
        <p:txBody>
          <a:bodyPr>
            <a:normAutofit/>
          </a:bodyPr>
          <a:lstStyle>
            <a:lvl1pPr>
              <a:defRPr sz="3600" b="1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5A49C19-B60A-4383-8613-4E3311132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>
            <a:lvl1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buFont typeface="맑은 고딕" panose="020B0503020000020004" pitchFamily="50" charset="-127"/>
              <a:buChar char="–"/>
              <a:defRPr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0760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317B9-517E-4B88-8090-98A079B5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48D0B9-C08E-4607-BA41-75748F642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1B6032-E91C-4A61-996B-228013A4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F312F5-2EBC-4618-B7BE-9A394913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FF7AFB-AE22-43C2-9D23-0D7C4745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54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962DF-0D26-4826-AB20-50F26068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CD4051-82D3-4F03-B01E-05BE9202B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56BFB0-3D84-4D85-A2FE-4EA4554C2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719191-139E-4BBB-A244-53732E95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FE5A1-DD8A-4FC0-8494-80CF0426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E24850-CD82-40AC-B029-B5265ADB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76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F2DB7-A9DA-48B4-A5D5-177E997D7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B55771-C12F-4911-B6E4-281B68A79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B5015E-669A-4E10-AE7E-28DB16BCF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C12414-D000-48D4-B239-2C9838684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7F0A59-2672-4B02-81B9-F97F57573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858005-1833-4D56-91AC-B6572421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C5BB12-7A62-4725-BAE7-0F3B13FC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164073-4E1C-418B-BDE8-889F642A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9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F22BC-F610-4F8B-9385-66E31607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14A4C7-C141-49E7-A1BB-2F95189D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CD473E-42F1-4F55-915E-A3465E37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3AAA17-EB0D-4C5B-B741-721BFE78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7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EA4825-C459-4782-B844-F92EAB0E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1FCB79-E800-479A-86F9-13637409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27B4A-C3F3-4CC8-A0CD-BF0B7588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9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78404-2048-49DA-B99B-B306800D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ABF520-EAF7-465C-A19F-EB9F95D41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1BC155-1F4F-4193-9C31-B1AF52770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7C1A3-160A-4F01-ACAD-8B7867EA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3617D2-5681-44C6-A5C9-F5294A10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B0E253-9CF0-4393-A633-EA111A58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66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BAA9B8-58B1-4303-B56E-EAD463DF6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85D859-4353-4C03-AD1E-EFCBBCBD2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6E48EC-54AC-4637-BD9A-C77580232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EA293E-956A-42D1-B126-CC580F5E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86D1D6-CB8A-4708-A2AB-693A3381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2A6F2B-360B-4DF5-AD16-29DF785D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51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38EAF-CDB0-40A7-944E-3961DD1F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7EE745-6F13-4971-AFFB-7BD8BAEB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1D5CD-4D74-4E7C-9CD5-F76350C5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C70AD1-8FF2-4374-9A5F-3091D7B0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9F8A54-43B2-4693-979B-0F057EEE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51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EE9C84-DA2B-441E-991D-1A3628829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7DE432-7C65-44AA-91C5-1A7B3BCBE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9BA8DE-0E5A-4788-A828-2E847FA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83ECD5-691B-40F7-B9B4-960CA653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E1335-2039-44F9-BDC5-C1A39E41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71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4B4693-BA04-4F25-9EA4-8C8012C5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D3BC42-FDA3-451C-8556-4D6F0F26E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1DD2F-DA92-4141-9743-7A21783BF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40F60-B2E2-498A-83E6-63380256C8C3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5E52B4-5278-4A57-A4E5-E15BA6773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1C925-084E-477E-88EA-A9DE8260B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10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rika-enterprise.com/wiki/index.php/ERIKA_v3_Wiki_Main_Page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AveesLab/cp4ad-rto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9C9F9-2DC3-4CA6-8300-4EC664A9D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022"/>
            <a:ext cx="12192000" cy="6832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Computing Platform for </a:t>
            </a:r>
            <a:r>
              <a:rPr lang="en-US" altLang="ko-KR" sz="3200" b="1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Autonomous Driving (CP4AD)</a:t>
            </a:r>
            <a:endParaRPr lang="ko-KR" altLang="en-US" sz="32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4E9F5EA-9BF0-46A4-80A5-798889956367}"/>
              </a:ext>
            </a:extLst>
          </p:cNvPr>
          <p:cNvSpPr txBox="1">
            <a:spLocks/>
          </p:cNvSpPr>
          <p:nvPr/>
        </p:nvSpPr>
        <p:spPr>
          <a:xfrm>
            <a:off x="149525" y="3466423"/>
            <a:ext cx="11892950" cy="2227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Prof. Jong-Chan Kim</a:t>
            </a:r>
          </a:p>
          <a:p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ko-KR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Dept. Automobile and IT Convergence</a:t>
            </a:r>
          </a:p>
        </p:txBody>
      </p:sp>
      <p:pic>
        <p:nvPicPr>
          <p:cNvPr id="4" name="Picture 2" descr="국민대 로고에 대한 이미지 검색결과">
            <a:extLst>
              <a:ext uri="{FF2B5EF4-FFF2-40B4-BE49-F238E27FC236}">
                <a16:creationId xmlns:a16="http://schemas.microsoft.com/office/drawing/2014/main" id="{211E4524-29E4-46C2-A840-31FB4E812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234" y="5297119"/>
            <a:ext cx="3293532" cy="117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548B6F5C-B11E-453C-B22B-387645246A50}"/>
              </a:ext>
            </a:extLst>
          </p:cNvPr>
          <p:cNvSpPr txBox="1">
            <a:spLocks/>
          </p:cNvSpPr>
          <p:nvPr/>
        </p:nvSpPr>
        <p:spPr>
          <a:xfrm>
            <a:off x="149525" y="1164524"/>
            <a:ext cx="1189209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400" b="1" dirty="0">
                <a:latin typeface="Tahoma" panose="020B0604030504040204" pitchFamily="34" charset="0"/>
                <a:cs typeface="Tahoma" panose="020B0604030504040204" pitchFamily="34" charset="0"/>
              </a:rPr>
              <a:t>L1. RTOS #1</a:t>
            </a:r>
            <a:endParaRPr lang="ko-KR" altLang="en-US" sz="44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90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66973-2F2A-FAAB-12C7-CA1DB0C2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Erika Enterprise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18C209-10DD-AA2F-B622-E11DFCF7B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4739210"/>
            <a:ext cx="11525958" cy="1905000"/>
          </a:xfrm>
        </p:spPr>
        <p:txBody>
          <a:bodyPr>
            <a:normAutofit lnSpcReduction="10000"/>
          </a:bodyPr>
          <a:lstStyle/>
          <a:p>
            <a:r>
              <a:rPr kumimoji="1" lang="ko-Kore-KR" altLang="en-US" dirty="0"/>
              <a:t>이탈리아</a:t>
            </a:r>
            <a:r>
              <a:rPr kumimoji="1" lang="en-US" altLang="ko-Kore-KR" dirty="0"/>
              <a:t> EVIDENCE</a:t>
            </a:r>
            <a:r>
              <a:rPr kumimoji="1" lang="ko-KR" altLang="en-US" dirty="0"/>
              <a:t>에서 개발된 오픈소스 </a:t>
            </a:r>
            <a:r>
              <a:rPr kumimoji="1" lang="en-US" altLang="ko-KR" dirty="0"/>
              <a:t>OSEK/VDX RTOS </a:t>
            </a:r>
            <a:r>
              <a:rPr kumimoji="1" lang="ko-KR" altLang="en-US" dirty="0"/>
              <a:t>구현체</a:t>
            </a:r>
            <a:endParaRPr kumimoji="1" lang="en-US" altLang="ko-KR" dirty="0"/>
          </a:p>
          <a:p>
            <a:r>
              <a:rPr kumimoji="1" lang="ko-KR" altLang="en-US" dirty="0"/>
              <a:t>듀얼 라이센스 정책 </a:t>
            </a:r>
            <a:r>
              <a:rPr kumimoji="1" lang="en-US" altLang="ko-KR" dirty="0"/>
              <a:t>(</a:t>
            </a:r>
            <a:r>
              <a:rPr kumimoji="1" lang="ko-KR" altLang="en-US" dirty="0"/>
              <a:t>오픈소스 라이센스 </a:t>
            </a:r>
            <a:r>
              <a:rPr kumimoji="1" lang="en-US" altLang="ko-KR" dirty="0"/>
              <a:t>+</a:t>
            </a:r>
            <a:r>
              <a:rPr kumimoji="1" lang="ko-KR" altLang="en-US" dirty="0"/>
              <a:t> 상용 라이센스</a:t>
            </a:r>
            <a:r>
              <a:rPr kumimoji="1" lang="en-US" altLang="ko-KR" dirty="0"/>
              <a:t>)</a:t>
            </a:r>
          </a:p>
          <a:p>
            <a:r>
              <a:rPr kumimoji="1" lang="en-US" altLang="ko-KR" dirty="0"/>
              <a:t>RTOS </a:t>
            </a:r>
            <a:r>
              <a:rPr kumimoji="1" lang="ko-KR" altLang="en-US" dirty="0"/>
              <a:t>연구 및 교육에 널리 사용</a:t>
            </a:r>
            <a:endParaRPr kumimoji="1" lang="en-US" altLang="ko-Kore-KR" dirty="0"/>
          </a:p>
          <a:p>
            <a:r>
              <a:rPr kumimoji="1" lang="en-US" altLang="ko-Kore-KR" dirty="0"/>
              <a:t>GitHub</a:t>
            </a:r>
            <a:r>
              <a:rPr kumimoji="1" lang="ko-KR" altLang="en-US" dirty="0"/>
              <a:t>을 통한 코드 배포 </a:t>
            </a:r>
            <a:r>
              <a:rPr kumimoji="1" lang="en-US" altLang="ko-KR" dirty="0"/>
              <a:t>or </a:t>
            </a:r>
            <a:r>
              <a:rPr kumimoji="1" lang="en-US" altLang="ko-KR" dirty="0" err="1"/>
              <a:t>RTDruid</a:t>
            </a:r>
            <a:r>
              <a:rPr kumimoji="1" lang="ko-KR" altLang="en-US" dirty="0"/>
              <a:t>와 통합된 이클립스 설치</a:t>
            </a:r>
            <a:endParaRPr kumimoji="1" lang="en-US" altLang="ko-KR" dirty="0"/>
          </a:p>
          <a:p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7CFC87-B10A-1DA3-CCD0-40598942D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600" y="33406"/>
            <a:ext cx="2946400" cy="825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A6A71A-2FA6-F025-451B-B1F46C1D86D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32"/>
          <a:stretch/>
        </p:blipFill>
        <p:spPr>
          <a:xfrm>
            <a:off x="592452" y="1015999"/>
            <a:ext cx="7876042" cy="36245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09AB9B-C4D8-C70D-FFA0-51E6F1371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5600" y="2118790"/>
            <a:ext cx="1943100" cy="190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7C21F4-84E5-541B-29AD-962591CEFCDE}"/>
              </a:ext>
            </a:extLst>
          </p:cNvPr>
          <p:cNvSpPr txBox="1"/>
          <p:nvPr/>
        </p:nvSpPr>
        <p:spPr>
          <a:xfrm>
            <a:off x="9424098" y="1350073"/>
            <a:ext cx="1468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6"/>
              </a:rPr>
              <a:t>ERIKA WIKI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93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B4C12-31BA-B775-D704-0B9FC10D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Visual Studio Code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3AF9A9-D5D1-14F0-B858-AA6015824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프로젝트 생성 및 관리</a:t>
            </a:r>
            <a:endParaRPr kumimoji="1" lang="en-US" altLang="ko-KR" dirty="0"/>
          </a:p>
          <a:p>
            <a:r>
              <a:rPr kumimoji="1" lang="en-US" altLang="ko-KR" dirty="0"/>
              <a:t>OIL </a:t>
            </a:r>
            <a:r>
              <a:rPr kumimoji="1" lang="ko-KR" altLang="en-US" dirty="0"/>
              <a:t>파일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C/C++ </a:t>
            </a:r>
            <a:r>
              <a:rPr kumimoji="1" lang="ko-KR" altLang="en-US" dirty="0"/>
              <a:t>파일 편집 </a:t>
            </a:r>
            <a:endParaRPr kumimoji="1" lang="en-US" altLang="ko-KR" dirty="0"/>
          </a:p>
          <a:p>
            <a:r>
              <a:rPr kumimoji="1" lang="ko-KR" altLang="en-US" dirty="0"/>
              <a:t>프로젝트 빌드</a:t>
            </a:r>
            <a:endParaRPr kumimoji="1" lang="en-US" altLang="ko-KR" dirty="0"/>
          </a:p>
          <a:p>
            <a:r>
              <a:rPr kumimoji="1" lang="ko-KR" altLang="en-US" dirty="0"/>
              <a:t>실행파일 업로드</a:t>
            </a:r>
            <a:endParaRPr kumimoji="1" lang="en-US" altLang="ko-KR" dirty="0"/>
          </a:p>
          <a:p>
            <a:r>
              <a:rPr kumimoji="1" lang="ko-KR" altLang="en-US" dirty="0"/>
              <a:t>터미널 실행</a:t>
            </a:r>
            <a:endParaRPr kumimoji="1" lang="ko-Kore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7807290-31A8-D60B-35D5-96F7E5AB8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576" y="1015999"/>
            <a:ext cx="5640916" cy="515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296695-5DAC-7ED2-3BD6-B08F6A497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D1C1D"/>
                </a:solidFill>
                <a:ea typeface="Tahoma" panose="020B0604030504040204" pitchFamily="34" charset="0"/>
                <a:hlinkClick r:id="rId2"/>
              </a:rPr>
              <a:t>https://github.com/AveesLab/</a:t>
            </a:r>
            <a:r>
              <a:rPr lang="en-US" altLang="ko-KR" u="sng" dirty="0">
                <a:solidFill>
                  <a:srgbClr val="1D1C1D"/>
                </a:solidFill>
                <a:ea typeface="Tahoma" panose="020B0604030504040204" pitchFamily="34" charset="0"/>
                <a:hlinkClick r:id="rId2"/>
              </a:rPr>
              <a:t>cp4ad-rtos.git</a:t>
            </a:r>
            <a:r>
              <a:rPr lang="en-US" altLang="ko-KR" dirty="0">
                <a:solidFill>
                  <a:srgbClr val="1D1C1D"/>
                </a:solidFill>
                <a:ea typeface="Tahoma" panose="020B0604030504040204" pitchFamily="34" charset="0"/>
                <a:sym typeface="Wingdings" panose="05000000000000000000" pitchFamily="2" charset="2"/>
              </a:rPr>
              <a:t> workspace</a:t>
            </a:r>
            <a:r>
              <a:rPr lang="ko-KR" altLang="en-US" dirty="0">
                <a:solidFill>
                  <a:srgbClr val="1D1C1D"/>
                </a:solidFill>
                <a:ea typeface="Tahoma" panose="020B0604030504040204" pitchFamily="34" charset="0"/>
                <a:sym typeface="Wingdings" panose="05000000000000000000" pitchFamily="2" charset="2"/>
              </a:rPr>
              <a:t>에 폴더 생성</a:t>
            </a:r>
            <a:endParaRPr lang="en-US" altLang="ko-KR" dirty="0">
              <a:solidFill>
                <a:srgbClr val="1D1C1D"/>
              </a:solidFill>
              <a:ea typeface="Tahoma" panose="020B0604030504040204" pitchFamily="34" charset="0"/>
            </a:endParaRPr>
          </a:p>
          <a:p>
            <a:r>
              <a:rPr lang="en-US" altLang="ko-KR" dirty="0">
                <a:solidFill>
                  <a:schemeClr val="accent6"/>
                </a:solidFill>
              </a:rPr>
              <a:t>// Write the code below.</a:t>
            </a:r>
            <a:r>
              <a:rPr lang="en-US" altLang="ko-KR" dirty="0">
                <a:solidFill>
                  <a:srgbClr val="1D1C1D"/>
                </a:solidFill>
                <a:ea typeface="Tahoma" panose="020B0604030504040204" pitchFamily="34" charset="0"/>
              </a:rPr>
              <a:t> </a:t>
            </a:r>
            <a:r>
              <a:rPr lang="ko-KR" altLang="en-US" dirty="0">
                <a:solidFill>
                  <a:srgbClr val="1D1C1D"/>
                </a:solidFill>
                <a:ea typeface="Tahoma" panose="020B0604030504040204" pitchFamily="34" charset="0"/>
              </a:rPr>
              <a:t>아래 코드 추가하는 방식으로 실습 진행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B2B3D36-8584-885B-FB69-D9F09F666D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277" b="10235"/>
          <a:stretch/>
        </p:blipFill>
        <p:spPr>
          <a:xfrm>
            <a:off x="827769" y="2025596"/>
            <a:ext cx="3447805" cy="470637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F3CFBA-CF24-682A-AD83-862E5C87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CP4AD RTOS Practice</a:t>
            </a:r>
            <a:r>
              <a:rPr lang="ko-KR" altLang="en-US" dirty="0"/>
              <a:t> </a:t>
            </a:r>
            <a:r>
              <a:rPr lang="en-US" altLang="ko-KR" dirty="0" err="1"/>
              <a:t>github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1F6F26-41DD-92FF-51C1-21C2E3034182}"/>
              </a:ext>
            </a:extLst>
          </p:cNvPr>
          <p:cNvSpPr/>
          <p:nvPr/>
        </p:nvSpPr>
        <p:spPr>
          <a:xfrm>
            <a:off x="1400428" y="2994354"/>
            <a:ext cx="1607617" cy="35220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8C93249-7B26-4455-C83C-63216234D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968" y="2025596"/>
            <a:ext cx="5427431" cy="470852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C8D13C-6D22-4DF8-0638-A3A0C0BF49BA}"/>
              </a:ext>
            </a:extLst>
          </p:cNvPr>
          <p:cNvSpPr/>
          <p:nvPr/>
        </p:nvSpPr>
        <p:spPr>
          <a:xfrm>
            <a:off x="5322275" y="4566706"/>
            <a:ext cx="2496457" cy="189940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04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CFD04B-2260-0E8E-E5F1-380E59243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Arduino</a:t>
            </a:r>
            <a:r>
              <a:rPr kumimoji="1" lang="ko-KR" altLang="en-US" dirty="0"/>
              <a:t> 연결 후 포트 번호 확인</a:t>
            </a:r>
            <a:r>
              <a:rPr kumimoji="1" lang="en-US" altLang="ko-KR" dirty="0"/>
              <a:t>(</a:t>
            </a:r>
            <a:r>
              <a:rPr kumimoji="1" lang="ko-KR" altLang="en-US" dirty="0"/>
              <a:t>장치 관리자 </a:t>
            </a:r>
            <a:r>
              <a:rPr kumimoji="1" lang="en-US" altLang="ko-KR" dirty="0"/>
              <a:t>&gt; </a:t>
            </a:r>
            <a:r>
              <a:rPr kumimoji="1" lang="ko-KR" altLang="en-US" dirty="0"/>
              <a:t>포트</a:t>
            </a:r>
            <a:r>
              <a:rPr kumimoji="1" lang="en-US" altLang="ko-KR" dirty="0"/>
              <a:t>)</a:t>
            </a:r>
            <a:endParaRPr kumimoji="1" lang="ko-Kore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EC03914-818D-7087-4B95-9497D7EFBE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" t="54" r="26878"/>
          <a:stretch/>
        </p:blipFill>
        <p:spPr>
          <a:xfrm>
            <a:off x="7124463" y="1771960"/>
            <a:ext cx="4350507" cy="43813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CBC943D-E632-0FE6-15AE-E5DB1CA6BE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49" t="497"/>
          <a:stretch/>
        </p:blipFill>
        <p:spPr>
          <a:xfrm>
            <a:off x="5561839" y="1771960"/>
            <a:ext cx="1406456" cy="44973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ADEF03D-4ADE-4531-88E4-92E43B35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Erika Enterprise Build Process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B0FF879-5FD2-B8AA-D90E-C744D18D5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458" y="1846800"/>
            <a:ext cx="4551331" cy="4303566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2D0EA03-D701-B3AC-099D-BA6250196D30}"/>
              </a:ext>
            </a:extLst>
          </p:cNvPr>
          <p:cNvCxnSpPr>
            <a:cxnSpLocks/>
          </p:cNvCxnSpPr>
          <p:nvPr/>
        </p:nvCxnSpPr>
        <p:spPr>
          <a:xfrm flipH="1">
            <a:off x="8694315" y="4467501"/>
            <a:ext cx="612572" cy="5150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219071E-7F04-31A5-AE31-5017C520C845}"/>
              </a:ext>
            </a:extLst>
          </p:cNvPr>
          <p:cNvSpPr txBox="1"/>
          <p:nvPr/>
        </p:nvSpPr>
        <p:spPr>
          <a:xfrm>
            <a:off x="9299716" y="4145238"/>
            <a:ext cx="14773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 </a:t>
            </a:r>
            <a:r>
              <a:rPr lang="ko-KR" altLang="en-US" sz="15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번호 </a:t>
            </a:r>
            <a:r>
              <a:rPr lang="ko-KR" altLang="en-US" sz="15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확인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543F3D-EB90-96EA-0A4B-209BD706376B}"/>
              </a:ext>
            </a:extLst>
          </p:cNvPr>
          <p:cNvSpPr/>
          <p:nvPr/>
        </p:nvSpPr>
        <p:spPr>
          <a:xfrm flipV="1">
            <a:off x="7491865" y="4982550"/>
            <a:ext cx="1203392" cy="2764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B1EC8B9-722C-90BA-3709-1208AA619ADE}"/>
              </a:ext>
            </a:extLst>
          </p:cNvPr>
          <p:cNvSpPr/>
          <p:nvPr/>
        </p:nvSpPr>
        <p:spPr>
          <a:xfrm>
            <a:off x="6096000" y="6002803"/>
            <a:ext cx="333022" cy="295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D5B123-9330-D69B-A37A-525B200801C0}"/>
              </a:ext>
            </a:extLst>
          </p:cNvPr>
          <p:cNvSpPr txBox="1"/>
          <p:nvPr/>
        </p:nvSpPr>
        <p:spPr>
          <a:xfrm>
            <a:off x="5700889" y="6317139"/>
            <a:ext cx="7902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우클릭</a:t>
            </a:r>
            <a:endParaRPr lang="ko-KR" altLang="en-US" sz="15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C9B31C8-24BC-6483-06C1-88734B03C47D}"/>
              </a:ext>
            </a:extLst>
          </p:cNvPr>
          <p:cNvSpPr/>
          <p:nvPr/>
        </p:nvSpPr>
        <p:spPr>
          <a:xfrm>
            <a:off x="5561839" y="2705968"/>
            <a:ext cx="1397324" cy="295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321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7C060-8413-EDB6-2B82-38505FCC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야외, 나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9978F91-9A6D-9D30-0C6D-E3267E7F2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07" b="10379"/>
          <a:stretch/>
        </p:blipFill>
        <p:spPr>
          <a:xfrm>
            <a:off x="1133826" y="1753437"/>
            <a:ext cx="3179030" cy="4620139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D218ED-8190-60C7-41A5-398310C0E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en-US" dirty="0"/>
              <a:t>Visual Studio Code </a:t>
            </a:r>
            <a:r>
              <a:rPr kumimoji="1" lang="ko-KR" altLang="en-US" dirty="0"/>
              <a:t>실행 </a:t>
            </a:r>
            <a:r>
              <a:rPr kumimoji="1" lang="en-US" altLang="ko-KR" dirty="0"/>
              <a:t>(</a:t>
            </a:r>
            <a:r>
              <a:rPr kumimoji="1" lang="ko-KR" altLang="en-US" dirty="0"/>
              <a:t>관리자 권한으로 실행 권장</a:t>
            </a:r>
            <a:r>
              <a:rPr kumimoji="1" lang="en-US" altLang="ko-KR" dirty="0"/>
              <a:t>)</a:t>
            </a:r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4E231CB-DA75-9066-7DEE-53582AA21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Erika Enterprise Build Process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0708A6F-0ACF-5692-30E2-691BB3D40FC3}"/>
              </a:ext>
            </a:extLst>
          </p:cNvPr>
          <p:cNvSpPr/>
          <p:nvPr/>
        </p:nvSpPr>
        <p:spPr>
          <a:xfrm>
            <a:off x="1733418" y="3489760"/>
            <a:ext cx="2554318" cy="295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645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56B134-4F4D-47BA-FE85-AE37EABC4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ko-KR" dirty="0"/>
              <a:t>01. Hello World/</a:t>
            </a:r>
            <a:r>
              <a:rPr kumimoji="1" lang="en-US" altLang="ko-KR" dirty="0" err="1"/>
              <a:t>Makefile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ARDUINO_PHY_PORT </a:t>
            </a:r>
            <a:r>
              <a:rPr kumimoji="1" lang="ko-KR" altLang="en-US" dirty="0"/>
              <a:t>수정</a:t>
            </a:r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576B18-D2ED-A394-6BA9-3EB568041A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6" b="32585"/>
          <a:stretch/>
        </p:blipFill>
        <p:spPr>
          <a:xfrm>
            <a:off x="2930390" y="1640022"/>
            <a:ext cx="6416868" cy="46233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ADEF03D-4ADE-4531-88E4-92E43B35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Erika Enterprise Build Process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A624B72-818C-59F2-F1D6-1B1646BFAC2B}"/>
              </a:ext>
            </a:extLst>
          </p:cNvPr>
          <p:cNvGrpSpPr/>
          <p:nvPr/>
        </p:nvGrpSpPr>
        <p:grpSpPr>
          <a:xfrm>
            <a:off x="3213989" y="2968445"/>
            <a:ext cx="5444326" cy="2713925"/>
            <a:chOff x="5811357" y="3071327"/>
            <a:chExt cx="5444326" cy="271392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871B9D4-0A94-1497-5747-2951405F3F26}"/>
                </a:ext>
              </a:extLst>
            </p:cNvPr>
            <p:cNvSpPr/>
            <p:nvPr/>
          </p:nvSpPr>
          <p:spPr>
            <a:xfrm>
              <a:off x="5811357" y="3071327"/>
              <a:ext cx="539069" cy="15156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9E9DCD03-86A1-BEB7-FFF2-A305584AC4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731" y="5380442"/>
              <a:ext cx="398585" cy="1446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E2627F-8E4B-0526-BEA6-042D19FF122B}"/>
                </a:ext>
              </a:extLst>
            </p:cNvPr>
            <p:cNvSpPr txBox="1"/>
            <p:nvPr/>
          </p:nvSpPr>
          <p:spPr>
            <a:xfrm>
              <a:off x="9067977" y="5462087"/>
              <a:ext cx="218770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Port </a:t>
              </a:r>
              <a:r>
                <a:rPr lang="ko-KR" altLang="en-US" sz="1500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번호 맞게 수정</a:t>
              </a:r>
              <a:endParaRPr lang="ko-KR" altLang="en-US" sz="15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6A58654-7793-3E7C-1E0D-D8C76D46509B}"/>
                </a:ext>
              </a:extLst>
            </p:cNvPr>
            <p:cNvSpPr/>
            <p:nvPr/>
          </p:nvSpPr>
          <p:spPr>
            <a:xfrm>
              <a:off x="7356778" y="5261278"/>
              <a:ext cx="1362441" cy="1191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3310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7893B97-47A2-968F-D9AE-DD671B218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ko-KR" altLang="en-US" dirty="0"/>
              <a:t>터미널 실행 후 </a:t>
            </a:r>
            <a:r>
              <a:rPr kumimoji="1" lang="en-US" altLang="ko-KR" dirty="0"/>
              <a:t>make config </a:t>
            </a:r>
            <a:r>
              <a:rPr kumimoji="1" lang="ko-KR" altLang="en-US" dirty="0"/>
              <a:t>실행</a:t>
            </a:r>
            <a:endParaRPr kumimoji="1" lang="ko-Kore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D9B8D34-F2A4-76F6-7BB5-D809DEC97E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110"/>
          <a:stretch/>
        </p:blipFill>
        <p:spPr>
          <a:xfrm>
            <a:off x="568003" y="1675448"/>
            <a:ext cx="4446512" cy="447414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ADEF03D-4ADE-4531-88E4-92E43B35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Erika Enterprise Build Process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BFA2630-5C8D-DA5D-309E-7ADE8193F125}"/>
              </a:ext>
            </a:extLst>
          </p:cNvPr>
          <p:cNvGrpSpPr/>
          <p:nvPr/>
        </p:nvGrpSpPr>
        <p:grpSpPr>
          <a:xfrm>
            <a:off x="586358" y="2483999"/>
            <a:ext cx="4428156" cy="4035470"/>
            <a:chOff x="518455" y="2436152"/>
            <a:chExt cx="4428156" cy="403547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BB5B517-E64B-02FE-AFFC-E570C95EFADE}"/>
                </a:ext>
              </a:extLst>
            </p:cNvPr>
            <p:cNvGrpSpPr/>
            <p:nvPr/>
          </p:nvGrpSpPr>
          <p:grpSpPr>
            <a:xfrm>
              <a:off x="906126" y="2436152"/>
              <a:ext cx="4040485" cy="1051714"/>
              <a:chOff x="637804" y="2563313"/>
              <a:chExt cx="4448836" cy="1126452"/>
            </a:xfrm>
          </p:grpSpPr>
          <p:sp>
            <p:nvSpPr>
              <p:cNvPr id="6" name="object 9">
                <a:extLst>
                  <a:ext uri="{FF2B5EF4-FFF2-40B4-BE49-F238E27FC236}">
                    <a16:creationId xmlns:a16="http://schemas.microsoft.com/office/drawing/2014/main" id="{85265BD6-86B3-B026-9703-1AE863A5E98B}"/>
                  </a:ext>
                </a:extLst>
              </p:cNvPr>
              <p:cNvSpPr/>
              <p:nvPr/>
            </p:nvSpPr>
            <p:spPr>
              <a:xfrm>
                <a:off x="637804" y="2563313"/>
                <a:ext cx="255648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23925" h="123825">
                    <a:moveTo>
                      <a:pt x="0" y="123825"/>
                    </a:moveTo>
                    <a:lnTo>
                      <a:pt x="923925" y="123825"/>
                    </a:lnTo>
                    <a:lnTo>
                      <a:pt x="923925" y="0"/>
                    </a:lnTo>
                    <a:lnTo>
                      <a:pt x="0" y="0"/>
                    </a:lnTo>
                    <a:lnTo>
                      <a:pt x="0" y="123825"/>
                    </a:lnTo>
                    <a:close/>
                  </a:path>
                </a:pathLst>
              </a:custGeom>
              <a:ln w="28575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7" name="object 9">
                <a:extLst>
                  <a:ext uri="{FF2B5EF4-FFF2-40B4-BE49-F238E27FC236}">
                    <a16:creationId xmlns:a16="http://schemas.microsoft.com/office/drawing/2014/main" id="{AE1258A5-9BAB-DD5D-72A8-73132038DA5E}"/>
                  </a:ext>
                </a:extLst>
              </p:cNvPr>
              <p:cNvSpPr/>
              <p:nvPr/>
            </p:nvSpPr>
            <p:spPr>
              <a:xfrm>
                <a:off x="2452449" y="3461165"/>
                <a:ext cx="2634191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23925" h="123825">
                    <a:moveTo>
                      <a:pt x="0" y="123825"/>
                    </a:moveTo>
                    <a:lnTo>
                      <a:pt x="923925" y="123825"/>
                    </a:lnTo>
                    <a:lnTo>
                      <a:pt x="923925" y="0"/>
                    </a:lnTo>
                    <a:lnTo>
                      <a:pt x="0" y="0"/>
                    </a:lnTo>
                    <a:lnTo>
                      <a:pt x="0" y="123825"/>
                    </a:lnTo>
                    <a:close/>
                  </a:path>
                </a:pathLst>
              </a:custGeom>
              <a:ln w="28575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D2053E-7E5E-A72F-1363-6E863C9737CF}"/>
                </a:ext>
              </a:extLst>
            </p:cNvPr>
            <p:cNvSpPr txBox="1"/>
            <p:nvPr/>
          </p:nvSpPr>
          <p:spPr>
            <a:xfrm>
              <a:off x="518455" y="5731868"/>
              <a:ext cx="4409801" cy="7397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altLang="ko-KR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500" dirty="0">
                  <a:latin typeface="Tahoma"/>
                  <a:ea typeface="Tahoma"/>
                  <a:cs typeface="Tahoma"/>
                </a:rPr>
                <a:t>폴더 </a:t>
              </a:r>
              <a:r>
                <a:rPr lang="ko-KR" altLang="en-US" sz="1500" dirty="0" err="1">
                  <a:latin typeface="Tahoma"/>
                  <a:ea typeface="Tahoma"/>
                  <a:cs typeface="Tahoma"/>
                </a:rPr>
                <a:t>우클릭</a:t>
              </a:r>
              <a:r>
                <a:rPr lang="ko-KR" altLang="en-US" sz="1500" dirty="0">
                  <a:latin typeface="Tahoma"/>
                  <a:ea typeface="Tahoma"/>
                  <a:cs typeface="Tahoma"/>
                </a:rPr>
                <a:t> 후 </a:t>
              </a:r>
              <a:r>
                <a:rPr lang="en-US" altLang="ko-KR" sz="1500" dirty="0">
                  <a:latin typeface="Tahoma"/>
                  <a:ea typeface="Tahoma"/>
                  <a:cs typeface="Tahoma"/>
                </a:rPr>
                <a:t>‘Open in Integrated Terminal’ </a:t>
              </a:r>
              <a:r>
                <a:rPr lang="ko-KR" altLang="en-US" sz="1500" dirty="0">
                  <a:latin typeface="Tahoma"/>
                  <a:ea typeface="Tahoma"/>
                  <a:cs typeface="Tahoma"/>
                </a:rPr>
                <a:t>실행</a:t>
              </a:r>
              <a:endParaRPr lang="en-US" altLang="ko-KR" sz="1500" dirty="0">
                <a:latin typeface="Tahoma"/>
                <a:ea typeface="Tahoma"/>
                <a:cs typeface="Tahoma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3E77E95C-C88A-0F6F-3993-DB89A932F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541" y="1675448"/>
            <a:ext cx="6705600" cy="2315469"/>
          </a:xfrm>
          <a:prstGeom prst="rect">
            <a:avLst/>
          </a:prstGeom>
        </p:spPr>
      </p:pic>
      <p:sp>
        <p:nvSpPr>
          <p:cNvPr id="10" name="object 9">
            <a:extLst>
              <a:ext uri="{FF2B5EF4-FFF2-40B4-BE49-F238E27FC236}">
                <a16:creationId xmlns:a16="http://schemas.microsoft.com/office/drawing/2014/main" id="{411E6FC5-ECC3-E7D4-109D-09113E275202}"/>
              </a:ext>
            </a:extLst>
          </p:cNvPr>
          <p:cNvSpPr/>
          <p:nvPr/>
        </p:nvSpPr>
        <p:spPr>
          <a:xfrm>
            <a:off x="8468571" y="1972491"/>
            <a:ext cx="762000" cy="189156"/>
          </a:xfrm>
          <a:custGeom>
            <a:avLst/>
            <a:gdLst/>
            <a:ahLst/>
            <a:cxnLst/>
            <a:rect l="l" t="t" r="r" b="b"/>
            <a:pathLst>
              <a:path w="923925" h="123825">
                <a:moveTo>
                  <a:pt x="0" y="123825"/>
                </a:moveTo>
                <a:lnTo>
                  <a:pt x="923925" y="123825"/>
                </a:lnTo>
                <a:lnTo>
                  <a:pt x="923925" y="0"/>
                </a:ln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A0A402D-7B1C-5B08-A036-572F4B23E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541" y="4538910"/>
            <a:ext cx="4614981" cy="1610682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15AC72DA-2629-6AB1-424F-BB2A965ADFD7}"/>
              </a:ext>
            </a:extLst>
          </p:cNvPr>
          <p:cNvSpPr/>
          <p:nvPr/>
        </p:nvSpPr>
        <p:spPr>
          <a:xfrm>
            <a:off x="5323796" y="5831152"/>
            <a:ext cx="2382774" cy="318440"/>
          </a:xfrm>
          <a:custGeom>
            <a:avLst/>
            <a:gdLst/>
            <a:ahLst/>
            <a:cxnLst/>
            <a:rect l="l" t="t" r="r" b="b"/>
            <a:pathLst>
              <a:path w="923925" h="123825">
                <a:moveTo>
                  <a:pt x="0" y="123825"/>
                </a:moveTo>
                <a:lnTo>
                  <a:pt x="923925" y="123825"/>
                </a:lnTo>
                <a:lnTo>
                  <a:pt x="923925" y="0"/>
                </a:ln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3137E7-962C-9E36-A5F6-828CDA6297FB}"/>
              </a:ext>
            </a:extLst>
          </p:cNvPr>
          <p:cNvSpPr txBox="1"/>
          <p:nvPr/>
        </p:nvSpPr>
        <p:spPr>
          <a:xfrm>
            <a:off x="9922522" y="4517147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 Completed</a:t>
            </a:r>
          </a:p>
          <a:p>
            <a:r>
              <a:rPr lang="ko-KR" altLang="en-US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확인 시 정상 동작</a:t>
            </a:r>
          </a:p>
        </p:txBody>
      </p:sp>
    </p:spTree>
    <p:extLst>
      <p:ext uri="{BB962C8B-B14F-4D97-AF65-F5344CB8AC3E}">
        <p14:creationId xmlns:p14="http://schemas.microsoft.com/office/powerpoint/2010/main" val="2377665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E23310-1994-DB46-1BE6-9A1C97F86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ko-KR" altLang="en-US" dirty="0"/>
              <a:t>터미널에서 </a:t>
            </a:r>
            <a:r>
              <a:rPr kumimoji="1" lang="en-US" altLang="ko-KR" dirty="0"/>
              <a:t>make </a:t>
            </a:r>
            <a:r>
              <a:rPr kumimoji="1" lang="ko-KR" altLang="en-US" dirty="0"/>
              <a:t>실행</a:t>
            </a:r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DEF03D-4ADE-4531-88E4-92E43B35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Erika Enterprise Build Process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BD7D68-15AB-005A-C277-B0D788D40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79" y="1883739"/>
            <a:ext cx="6160975" cy="2823077"/>
          </a:xfrm>
          <a:prstGeom prst="rect">
            <a:avLst/>
          </a:prstGeom>
        </p:spPr>
      </p:pic>
      <p:sp>
        <p:nvSpPr>
          <p:cNvPr id="11" name="object 9">
            <a:extLst>
              <a:ext uri="{FF2B5EF4-FFF2-40B4-BE49-F238E27FC236}">
                <a16:creationId xmlns:a16="http://schemas.microsoft.com/office/drawing/2014/main" id="{DA98F20F-6FDA-4454-1B33-F5049C3909A1}"/>
              </a:ext>
            </a:extLst>
          </p:cNvPr>
          <p:cNvSpPr/>
          <p:nvPr/>
        </p:nvSpPr>
        <p:spPr>
          <a:xfrm>
            <a:off x="3504066" y="2080847"/>
            <a:ext cx="533400" cy="185325"/>
          </a:xfrm>
          <a:custGeom>
            <a:avLst/>
            <a:gdLst/>
            <a:ahLst/>
            <a:cxnLst/>
            <a:rect l="l" t="t" r="r" b="b"/>
            <a:pathLst>
              <a:path w="923925" h="123825">
                <a:moveTo>
                  <a:pt x="0" y="123825"/>
                </a:moveTo>
                <a:lnTo>
                  <a:pt x="923925" y="123825"/>
                </a:lnTo>
                <a:lnTo>
                  <a:pt x="923925" y="0"/>
                </a:ln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59D75EB-AAB2-30B9-58CC-F9A1FB73E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79" y="5002302"/>
            <a:ext cx="7137767" cy="1117657"/>
          </a:xfrm>
          <a:prstGeom prst="rect">
            <a:avLst/>
          </a:prstGeom>
        </p:spPr>
      </p:pic>
      <p:sp>
        <p:nvSpPr>
          <p:cNvPr id="16" name="object 9">
            <a:extLst>
              <a:ext uri="{FF2B5EF4-FFF2-40B4-BE49-F238E27FC236}">
                <a16:creationId xmlns:a16="http://schemas.microsoft.com/office/drawing/2014/main" id="{BFF75F53-98ED-2086-BD22-B7D661C1453B}"/>
              </a:ext>
            </a:extLst>
          </p:cNvPr>
          <p:cNvSpPr/>
          <p:nvPr/>
        </p:nvSpPr>
        <p:spPr>
          <a:xfrm>
            <a:off x="690278" y="5115840"/>
            <a:ext cx="3754121" cy="241386"/>
          </a:xfrm>
          <a:custGeom>
            <a:avLst/>
            <a:gdLst/>
            <a:ahLst/>
            <a:cxnLst/>
            <a:rect l="l" t="t" r="r" b="b"/>
            <a:pathLst>
              <a:path w="923925" h="123825">
                <a:moveTo>
                  <a:pt x="0" y="123825"/>
                </a:moveTo>
                <a:lnTo>
                  <a:pt x="923925" y="123825"/>
                </a:lnTo>
                <a:lnTo>
                  <a:pt x="923925" y="0"/>
                </a:ln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42BB2-1AC1-077B-4407-537508D0F404}"/>
              </a:ext>
            </a:extLst>
          </p:cNvPr>
          <p:cNvSpPr txBox="1"/>
          <p:nvPr/>
        </p:nvSpPr>
        <p:spPr>
          <a:xfrm>
            <a:off x="7873400" y="4976902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Built successfully</a:t>
            </a:r>
          </a:p>
          <a:p>
            <a:r>
              <a:rPr lang="ko-KR" altLang="en-US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확인 시 정상 동작</a:t>
            </a:r>
          </a:p>
        </p:txBody>
      </p:sp>
    </p:spTree>
    <p:extLst>
      <p:ext uri="{BB962C8B-B14F-4D97-AF65-F5344CB8AC3E}">
        <p14:creationId xmlns:p14="http://schemas.microsoft.com/office/powerpoint/2010/main" val="186073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FC30BA0-8694-006C-1F61-1470BEACB0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218" b="8237"/>
          <a:stretch/>
        </p:blipFill>
        <p:spPr>
          <a:xfrm>
            <a:off x="5255014" y="1864754"/>
            <a:ext cx="6510283" cy="2286001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1DDCE64-4619-FA63-CE5E-1134D9066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/>
          <a:p>
            <a:r>
              <a:rPr kumimoji="1" lang="en-US" altLang="en-US" dirty="0"/>
              <a:t>make upload </a:t>
            </a:r>
            <a:r>
              <a:rPr kumimoji="1" lang="ko-KR" altLang="en-US" dirty="0"/>
              <a:t>후 </a:t>
            </a:r>
            <a:r>
              <a:rPr kumimoji="1" lang="en-US" altLang="ko-KR" dirty="0"/>
              <a:t>Serial Monitor </a:t>
            </a:r>
            <a:r>
              <a:rPr kumimoji="1" lang="ko-KR" altLang="en-US" dirty="0"/>
              <a:t>실행</a:t>
            </a:r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DEF03D-4ADE-4531-88E4-92E43B35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Erika Enterprise Build Process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82444B-F1BE-0901-2675-11F1630FC7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468"/>
          <a:stretch/>
        </p:blipFill>
        <p:spPr>
          <a:xfrm>
            <a:off x="611730" y="1864756"/>
            <a:ext cx="4468871" cy="2286000"/>
          </a:xfrm>
          <a:prstGeom prst="rect">
            <a:avLst/>
          </a:prstGeom>
        </p:spPr>
      </p:pic>
      <p:sp>
        <p:nvSpPr>
          <p:cNvPr id="11" name="object 13">
            <a:extLst>
              <a:ext uri="{FF2B5EF4-FFF2-40B4-BE49-F238E27FC236}">
                <a16:creationId xmlns:a16="http://schemas.microsoft.com/office/drawing/2014/main" id="{79F80BEA-C5B9-66D9-43E2-65A161F053BB}"/>
              </a:ext>
            </a:extLst>
          </p:cNvPr>
          <p:cNvSpPr/>
          <p:nvPr/>
        </p:nvSpPr>
        <p:spPr>
          <a:xfrm>
            <a:off x="2986466" y="2144194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1476375" h="285750">
                <a:moveTo>
                  <a:pt x="0" y="285750"/>
                </a:moveTo>
                <a:lnTo>
                  <a:pt x="1476375" y="285750"/>
                </a:lnTo>
                <a:lnTo>
                  <a:pt x="14763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40BDB6-7825-0093-D3EB-7F6A3FEF309A}"/>
              </a:ext>
            </a:extLst>
          </p:cNvPr>
          <p:cNvSpPr txBox="1"/>
          <p:nvPr/>
        </p:nvSpPr>
        <p:spPr>
          <a:xfrm>
            <a:off x="460530" y="4261220"/>
            <a:ext cx="484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Make upload </a:t>
            </a:r>
            <a:r>
              <a:rPr lang="ko-KR" altLang="en-US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입력 후 </a:t>
            </a:r>
            <a:r>
              <a:rPr lang="en-US" altLang="ko-KR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avrdude.exe done </a:t>
            </a:r>
            <a:r>
              <a:rPr lang="ko-KR" altLang="en-US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확인</a:t>
            </a: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97242595-5C69-0368-472D-C1FF4D5E6F0D}"/>
              </a:ext>
            </a:extLst>
          </p:cNvPr>
          <p:cNvSpPr/>
          <p:nvPr/>
        </p:nvSpPr>
        <p:spPr>
          <a:xfrm>
            <a:off x="625944" y="3754993"/>
            <a:ext cx="1192035" cy="151498"/>
          </a:xfrm>
          <a:custGeom>
            <a:avLst/>
            <a:gdLst/>
            <a:ahLst/>
            <a:cxnLst/>
            <a:rect l="l" t="t" r="r" b="b"/>
            <a:pathLst>
              <a:path w="1476375" h="285750">
                <a:moveTo>
                  <a:pt x="0" y="285750"/>
                </a:moveTo>
                <a:lnTo>
                  <a:pt x="1476375" y="285750"/>
                </a:lnTo>
                <a:lnTo>
                  <a:pt x="14763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AE45A266-D2D6-DB77-9B2E-5B934072D071}"/>
              </a:ext>
            </a:extLst>
          </p:cNvPr>
          <p:cNvSpPr/>
          <p:nvPr/>
        </p:nvSpPr>
        <p:spPr>
          <a:xfrm>
            <a:off x="10766809" y="2260878"/>
            <a:ext cx="761077" cy="160893"/>
          </a:xfrm>
          <a:custGeom>
            <a:avLst/>
            <a:gdLst/>
            <a:ahLst/>
            <a:cxnLst/>
            <a:rect l="l" t="t" r="r" b="b"/>
            <a:pathLst>
              <a:path w="1476375" h="285750">
                <a:moveTo>
                  <a:pt x="0" y="285750"/>
                </a:moveTo>
                <a:lnTo>
                  <a:pt x="1476375" y="285750"/>
                </a:lnTo>
                <a:lnTo>
                  <a:pt x="14763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631AD-26A7-97B6-55CB-459564659F3D}"/>
              </a:ext>
            </a:extLst>
          </p:cNvPr>
          <p:cNvSpPr txBox="1"/>
          <p:nvPr/>
        </p:nvSpPr>
        <p:spPr>
          <a:xfrm>
            <a:off x="5255014" y="4261220"/>
            <a:ext cx="602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Terminal</a:t>
            </a:r>
            <a:r>
              <a:rPr lang="ko-KR" altLang="en-US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에서 프로그램 동작 확인</a:t>
            </a:r>
          </a:p>
        </p:txBody>
      </p:sp>
      <p:sp>
        <p:nvSpPr>
          <p:cNvPr id="24" name="object 13">
            <a:extLst>
              <a:ext uri="{FF2B5EF4-FFF2-40B4-BE49-F238E27FC236}">
                <a16:creationId xmlns:a16="http://schemas.microsoft.com/office/drawing/2014/main" id="{39232EB9-00C4-15D4-696B-651C9E48A0FC}"/>
              </a:ext>
            </a:extLst>
          </p:cNvPr>
          <p:cNvSpPr/>
          <p:nvPr/>
        </p:nvSpPr>
        <p:spPr>
          <a:xfrm>
            <a:off x="5305530" y="2616894"/>
            <a:ext cx="790470" cy="452877"/>
          </a:xfrm>
          <a:custGeom>
            <a:avLst/>
            <a:gdLst/>
            <a:ahLst/>
            <a:cxnLst/>
            <a:rect l="l" t="t" r="r" b="b"/>
            <a:pathLst>
              <a:path w="1476375" h="285750">
                <a:moveTo>
                  <a:pt x="0" y="285750"/>
                </a:moveTo>
                <a:lnTo>
                  <a:pt x="1476375" y="285750"/>
                </a:lnTo>
                <a:lnTo>
                  <a:pt x="14763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3">
            <a:extLst>
              <a:ext uri="{FF2B5EF4-FFF2-40B4-BE49-F238E27FC236}">
                <a16:creationId xmlns:a16="http://schemas.microsoft.com/office/drawing/2014/main" id="{C53612AD-6081-EAA1-FC0B-BD0B9003A889}"/>
              </a:ext>
            </a:extLst>
          </p:cNvPr>
          <p:cNvSpPr/>
          <p:nvPr/>
        </p:nvSpPr>
        <p:spPr>
          <a:xfrm>
            <a:off x="7455337" y="2232745"/>
            <a:ext cx="2330013" cy="207771"/>
          </a:xfrm>
          <a:custGeom>
            <a:avLst/>
            <a:gdLst/>
            <a:ahLst/>
            <a:cxnLst/>
            <a:rect l="l" t="t" r="r" b="b"/>
            <a:pathLst>
              <a:path w="1476375" h="285750">
                <a:moveTo>
                  <a:pt x="0" y="285750"/>
                </a:moveTo>
                <a:lnTo>
                  <a:pt x="1476375" y="285750"/>
                </a:lnTo>
                <a:lnTo>
                  <a:pt x="1476375" y="0"/>
                </a:lnTo>
                <a:lnTo>
                  <a:pt x="0" y="0"/>
                </a:lnTo>
                <a:lnTo>
                  <a:pt x="0" y="28575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3CD0B-1560-E34F-C9AE-AEBF4464BE9A}"/>
              </a:ext>
            </a:extLst>
          </p:cNvPr>
          <p:cNvSpPr txBox="1"/>
          <p:nvPr/>
        </p:nvSpPr>
        <p:spPr>
          <a:xfrm>
            <a:off x="7528977" y="2532236"/>
            <a:ext cx="602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Port </a:t>
            </a:r>
            <a:r>
              <a:rPr lang="ko-KR" altLang="en-US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번호 확인 및 </a:t>
            </a:r>
            <a:r>
              <a:rPr lang="en-US" altLang="ko-KR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Baud</a:t>
            </a:r>
            <a:r>
              <a:rPr lang="ko-KR" altLang="en-US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rate</a:t>
            </a:r>
            <a:r>
              <a:rPr lang="ko-KR" altLang="en-US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: 9600 </a:t>
            </a:r>
            <a:r>
              <a:rPr lang="ko-KR" altLang="en-US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1887597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56CFC-5907-9B2E-1299-A25F3195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Erika Enterprise Project Structure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21979-5E23-9874-B626-F20E8202046C}"/>
              </a:ext>
            </a:extLst>
          </p:cNvPr>
          <p:cNvSpPr txBox="1">
            <a:spLocks/>
          </p:cNvSpPr>
          <p:nvPr/>
        </p:nvSpPr>
        <p:spPr>
          <a:xfrm>
            <a:off x="333021" y="1015999"/>
            <a:ext cx="11525958" cy="5628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dirty="0"/>
              <a:t>Erika Enterprise </a:t>
            </a:r>
            <a:r>
              <a:rPr kumimoji="1" lang="ko-Kore-KR" altLang="en-US" dirty="0"/>
              <a:t>파일</a:t>
            </a:r>
            <a:endParaRPr kumimoji="1" lang="en-US" altLang="ko-Kore-KR" dirty="0"/>
          </a:p>
          <a:p>
            <a:pPr lvl="1"/>
            <a:r>
              <a:rPr kumimoji="1" lang="ko-Kore-KR" altLang="en-US" dirty="0"/>
              <a:t>커널</a:t>
            </a:r>
            <a:r>
              <a:rPr kumimoji="1" lang="ko-KR" altLang="en-US" dirty="0"/>
              <a:t> 소스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커널 헤더파일</a:t>
            </a:r>
            <a:endParaRPr kumimoji="1" lang="en-US" altLang="ko-KR" dirty="0"/>
          </a:p>
          <a:p>
            <a:pPr lvl="1"/>
            <a:endParaRPr kumimoji="1" lang="ko-Kore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571957A-EB48-8E12-FB97-CF127943B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958" y="1157167"/>
            <a:ext cx="1951504" cy="53458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FDBA97E-8C29-B26F-BDE2-A583BF5C8F84}"/>
              </a:ext>
            </a:extLst>
          </p:cNvPr>
          <p:cNvSpPr/>
          <p:nvPr/>
        </p:nvSpPr>
        <p:spPr>
          <a:xfrm>
            <a:off x="9689297" y="1364674"/>
            <a:ext cx="1067463" cy="19110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656D4D4-947E-E2CA-389C-541D3F41C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957" y="1607676"/>
            <a:ext cx="2784789" cy="4706683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0577268-D475-4F7D-6C62-D9D58888B954}"/>
              </a:ext>
            </a:extLst>
          </p:cNvPr>
          <p:cNvCxnSpPr/>
          <p:nvPr/>
        </p:nvCxnSpPr>
        <p:spPr>
          <a:xfrm flipV="1">
            <a:off x="7636746" y="1364674"/>
            <a:ext cx="2052551" cy="2430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0AD8C22-CC6D-3759-A2E3-B552E0F53DD5}"/>
              </a:ext>
            </a:extLst>
          </p:cNvPr>
          <p:cNvCxnSpPr>
            <a:cxnSpLocks/>
          </p:cNvCxnSpPr>
          <p:nvPr/>
        </p:nvCxnSpPr>
        <p:spPr>
          <a:xfrm flipV="1">
            <a:off x="7636746" y="3275763"/>
            <a:ext cx="2052551" cy="30385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659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56CFC-5907-9B2E-1299-A25F3195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Erika Enterprise Project Structure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36DAEF-A6F3-8609-010F-5AC082FD9847}"/>
              </a:ext>
            </a:extLst>
          </p:cNvPr>
          <p:cNvSpPr txBox="1">
            <a:spLocks/>
          </p:cNvSpPr>
          <p:nvPr/>
        </p:nvSpPr>
        <p:spPr>
          <a:xfrm>
            <a:off x="333021" y="1015999"/>
            <a:ext cx="11525958" cy="5628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dirty="0"/>
              <a:t>Output </a:t>
            </a:r>
            <a:r>
              <a:rPr kumimoji="1" lang="ko-KR" altLang="en-US" dirty="0"/>
              <a:t>파일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OIL</a:t>
            </a:r>
            <a:r>
              <a:rPr kumimoji="1" lang="ko-KR" altLang="en-US" dirty="0"/>
              <a:t>에서 자동 생성된 </a:t>
            </a:r>
            <a:r>
              <a:rPr kumimoji="1" lang="en-US" altLang="ko-KR" dirty="0"/>
              <a:t>…</a:t>
            </a:r>
            <a:r>
              <a:rPr kumimoji="1" lang="en-US" altLang="ko-KR" dirty="0" err="1"/>
              <a:t>cfg.c</a:t>
            </a:r>
            <a:r>
              <a:rPr kumimoji="1" lang="ko-KR" altLang="en-US" dirty="0"/>
              <a:t>와</a:t>
            </a:r>
            <a:r>
              <a:rPr kumimoji="1" lang="en-US" altLang="ko-KR" dirty="0"/>
              <a:t> …</a:t>
            </a:r>
            <a:r>
              <a:rPr kumimoji="1" lang="en-US" altLang="ko-KR" dirty="0" err="1"/>
              <a:t>cfg.h</a:t>
            </a:r>
            <a:r>
              <a:rPr kumimoji="1" lang="en-US" altLang="ko-KR" dirty="0"/>
              <a:t> </a:t>
            </a:r>
            <a:r>
              <a:rPr kumimoji="1" lang="ko-KR" altLang="en-US" dirty="0"/>
              <a:t>파일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ELF </a:t>
            </a:r>
            <a:r>
              <a:rPr kumimoji="1" lang="ko-KR" altLang="en-US" dirty="0"/>
              <a:t>파일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HEX </a:t>
            </a:r>
            <a:r>
              <a:rPr kumimoji="1" lang="ko-KR" altLang="en-US" dirty="0"/>
              <a:t>파일</a:t>
            </a:r>
            <a:endParaRPr kumimoji="1" lang="en-US" altLang="ko-KR" dirty="0"/>
          </a:p>
          <a:p>
            <a:pPr lvl="1"/>
            <a:endParaRPr kumimoji="1" lang="ko-Kore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39313EB-7CE8-51B4-5785-8897D8BB0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958" y="1157167"/>
            <a:ext cx="1951504" cy="534587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A1ED4D-A034-2E4E-0AD7-009957978DA6}"/>
              </a:ext>
            </a:extLst>
          </p:cNvPr>
          <p:cNvSpPr/>
          <p:nvPr/>
        </p:nvSpPr>
        <p:spPr>
          <a:xfrm>
            <a:off x="9789781" y="3273861"/>
            <a:ext cx="1193067" cy="22075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5A4C835-FBF4-680E-8E77-EEA560C70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437" y="2153068"/>
            <a:ext cx="2438439" cy="4307909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17C03BF-0D27-BD41-9167-4C5FE56C9EC4}"/>
              </a:ext>
            </a:extLst>
          </p:cNvPr>
          <p:cNvCxnSpPr>
            <a:cxnSpLocks/>
          </p:cNvCxnSpPr>
          <p:nvPr/>
        </p:nvCxnSpPr>
        <p:spPr>
          <a:xfrm>
            <a:off x="7455876" y="2179596"/>
            <a:ext cx="2333905" cy="10942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29FD219-72E2-2310-6378-AD9E45B4F298}"/>
              </a:ext>
            </a:extLst>
          </p:cNvPr>
          <p:cNvCxnSpPr>
            <a:cxnSpLocks/>
          </p:cNvCxnSpPr>
          <p:nvPr/>
        </p:nvCxnSpPr>
        <p:spPr>
          <a:xfrm flipV="1">
            <a:off x="7455876" y="5481376"/>
            <a:ext cx="2333905" cy="95517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957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319A923-E3BC-7566-7B76-7BACB0639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278" y="1507178"/>
            <a:ext cx="3904393" cy="43861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F0F7E7C-B7AB-8C73-9A63-FFA4EEA4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Erika Enterprise Project Structure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80DB55-45BC-642F-10BE-3A3BE2DA0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 err="1"/>
              <a:t>asw.c</a:t>
            </a:r>
            <a:endParaRPr kumimoji="1" lang="en-US" altLang="ko-Kore-KR" dirty="0"/>
          </a:p>
          <a:p>
            <a:pPr lvl="1"/>
            <a:r>
              <a:rPr kumimoji="1" lang="ko-KR" altLang="en-US" dirty="0"/>
              <a:t>사용자 작성 어플리케이션 코드</a:t>
            </a:r>
            <a:endParaRPr kumimoji="1" lang="en-US" altLang="ko-Kore-KR" dirty="0"/>
          </a:p>
          <a:p>
            <a:r>
              <a:rPr kumimoji="1" lang="en-US" altLang="ko-Kore-KR" dirty="0"/>
              <a:t>bsw.cpp &amp; </a:t>
            </a:r>
            <a:r>
              <a:rPr kumimoji="1" lang="en-US" altLang="ko-Kore-KR" dirty="0" err="1"/>
              <a:t>bsw.h</a:t>
            </a:r>
            <a:endParaRPr kumimoji="1" lang="en-US" altLang="ko-Kore-KR" dirty="0"/>
          </a:p>
          <a:p>
            <a:pPr lvl="1"/>
            <a:r>
              <a:rPr kumimoji="1" lang="ko-KR" altLang="en-US" dirty="0"/>
              <a:t>사용자 작성 함수</a:t>
            </a:r>
            <a:endParaRPr kumimoji="1" lang="en-US" altLang="ko-KR" dirty="0"/>
          </a:p>
          <a:p>
            <a:pPr lvl="1"/>
            <a:r>
              <a:rPr kumimoji="1" lang="en-US" altLang="ko-Kore-KR" dirty="0"/>
              <a:t>main</a:t>
            </a:r>
            <a:r>
              <a:rPr kumimoji="1" lang="ko-KR" altLang="en-US" dirty="0"/>
              <a:t> 함수 </a:t>
            </a:r>
            <a:r>
              <a:rPr kumimoji="1" lang="ko-KR" altLang="en-US" dirty="0" err="1"/>
              <a:t>진입점</a:t>
            </a:r>
            <a:endParaRPr kumimoji="1" lang="en-US" altLang="ko-Kore-KR" dirty="0"/>
          </a:p>
          <a:p>
            <a:r>
              <a:rPr kumimoji="1" lang="en-US" altLang="ko-Kore-KR" dirty="0" err="1"/>
              <a:t>conf.oil</a:t>
            </a:r>
            <a:endParaRPr kumimoji="1" lang="en-US" altLang="ko-Kore-KR" dirty="0"/>
          </a:p>
          <a:p>
            <a:pPr lvl="1"/>
            <a:r>
              <a:rPr kumimoji="1" lang="en-US" altLang="ko-Kore-KR" dirty="0"/>
              <a:t>OSEK </a:t>
            </a:r>
            <a:r>
              <a:rPr kumimoji="1" lang="ko-KR" altLang="en-US" dirty="0"/>
              <a:t>설정 파일</a:t>
            </a:r>
            <a:endParaRPr kumimoji="1" lang="en-US" altLang="ko-Kore-KR" dirty="0"/>
          </a:p>
          <a:p>
            <a:r>
              <a:rPr kumimoji="1" lang="en-US" altLang="ko-Kore-KR" dirty="0" err="1"/>
              <a:t>Makefile</a:t>
            </a:r>
            <a:endParaRPr kumimoji="1" lang="en-US" altLang="ko-Kore-KR" dirty="0"/>
          </a:p>
          <a:p>
            <a:pPr lvl="1"/>
            <a:r>
              <a:rPr kumimoji="1" lang="en-US" altLang="ko-Kore-KR" dirty="0"/>
              <a:t>Make </a:t>
            </a:r>
            <a:r>
              <a:rPr kumimoji="1" lang="ko-KR" altLang="en-US" dirty="0"/>
              <a:t>규칙 서술 파일</a:t>
            </a:r>
            <a:endParaRPr kumimoji="1" lang="en-US" altLang="ko-Kore-KR" dirty="0"/>
          </a:p>
          <a:p>
            <a:pPr marL="0" indent="0">
              <a:buNone/>
            </a:pPr>
            <a:endParaRPr kumimoji="1" lang="en-US" altLang="ko-Kore-KR" dirty="0"/>
          </a:p>
          <a:p>
            <a:endParaRPr kumimoji="1" lang="en-US" altLang="ko-Kore-KR" dirty="0"/>
          </a:p>
          <a:p>
            <a:endParaRPr kumimoji="1" lang="ko-Kore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61EA4A-8721-3B88-EC52-D449E78E09C7}"/>
              </a:ext>
            </a:extLst>
          </p:cNvPr>
          <p:cNvSpPr/>
          <p:nvPr/>
        </p:nvSpPr>
        <p:spPr>
          <a:xfrm>
            <a:off x="7745457" y="4182434"/>
            <a:ext cx="1295742" cy="16595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11313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BF619-72CE-84E9-DEFA-F0787C13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886ED9-495B-EB1F-7C83-6F3D47454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en-US" dirty="0"/>
              <a:t>Erika Enterprise Project Structure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614110-7676-8490-93AB-BB461EFEE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 err="1"/>
              <a:t>conf.oil</a:t>
            </a:r>
            <a:endParaRPr kumimoji="1" lang="en-US" altLang="ko-Kore-KR" dirty="0"/>
          </a:p>
          <a:p>
            <a:pPr lvl="1"/>
            <a:r>
              <a:rPr kumimoji="1" lang="en-US" altLang="ko-Kore-KR" dirty="0"/>
              <a:t>OSEK </a:t>
            </a:r>
            <a:r>
              <a:rPr kumimoji="1" lang="ko-KR" altLang="en-US" dirty="0"/>
              <a:t>설정 파일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.oil </a:t>
            </a:r>
            <a:r>
              <a:rPr kumimoji="1" lang="ko-KR" altLang="en-US" dirty="0"/>
              <a:t>확장자</a:t>
            </a:r>
            <a:r>
              <a:rPr kumimoji="1" lang="en-US" altLang="ko-KR" dirty="0"/>
              <a:t>, C </a:t>
            </a:r>
            <a:r>
              <a:rPr kumimoji="1" lang="ko-KR" altLang="en-US" dirty="0"/>
              <a:t>구조체 문법 사용</a:t>
            </a:r>
            <a:endParaRPr kumimoji="1" lang="en-US" altLang="ko-KR" dirty="0"/>
          </a:p>
          <a:p>
            <a:pPr marL="457200" lvl="1" indent="0">
              <a:buNone/>
            </a:pPr>
            <a:r>
              <a:rPr kumimoji="1" lang="en-US" altLang="ko-KR" dirty="0"/>
              <a:t>   (OSEK Implementation Language)</a:t>
            </a:r>
          </a:p>
          <a:p>
            <a:pPr lvl="1"/>
            <a:r>
              <a:rPr kumimoji="1" lang="en-US" altLang="ko-KR" dirty="0"/>
              <a:t>OS object</a:t>
            </a:r>
          </a:p>
          <a:p>
            <a:pPr lvl="1"/>
            <a:r>
              <a:rPr kumimoji="1" lang="en-US" altLang="ko-KR" dirty="0"/>
              <a:t>APPDATA</a:t>
            </a:r>
            <a:r>
              <a:rPr kumimoji="1" lang="ko-KR" altLang="en-US" dirty="0"/>
              <a:t> </a:t>
            </a:r>
            <a:r>
              <a:rPr kumimoji="1" lang="en-US" altLang="ko-KR" dirty="0"/>
              <a:t>object</a:t>
            </a:r>
          </a:p>
          <a:p>
            <a:pPr lvl="1"/>
            <a:r>
              <a:rPr kumimoji="1" lang="en-US" altLang="ko-KR" dirty="0"/>
              <a:t>COUNTER object</a:t>
            </a:r>
          </a:p>
          <a:p>
            <a:pPr lvl="1"/>
            <a:r>
              <a:rPr kumimoji="1" lang="en-US" altLang="ko-KR" dirty="0"/>
              <a:t>TASK object </a:t>
            </a:r>
            <a:r>
              <a:rPr kumimoji="1" lang="ko-KR" altLang="en-US" dirty="0"/>
              <a:t>등</a:t>
            </a: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  <a:p>
            <a:pPr lvl="1"/>
            <a:endParaRPr kumimoji="1" lang="en-US" altLang="ko-Kore-KR" dirty="0"/>
          </a:p>
          <a:p>
            <a:pPr marL="0" indent="0">
              <a:buNone/>
            </a:pPr>
            <a:endParaRPr kumimoji="1" lang="en-US" altLang="ko-Kore-KR" dirty="0"/>
          </a:p>
          <a:p>
            <a:endParaRPr kumimoji="1" lang="en-US" altLang="ko-Kore-KR" dirty="0"/>
          </a:p>
          <a:p>
            <a:endParaRPr kumimoji="1" lang="ko-Kore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42DFB2-7F2C-3B46-66C0-259F94FB5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800" y="1186657"/>
            <a:ext cx="4411580" cy="5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1E5E-9785-52C1-7B64-82A5E97F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452DA-4808-70E9-2BAC-0F4D879E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Erika Enterprise Project Structure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136E71-5E15-D2C9-2EEE-3FD4F5014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bsw.cpp &amp; </a:t>
            </a:r>
            <a:r>
              <a:rPr kumimoji="1" lang="en-US" altLang="ko-Kore-KR" dirty="0" err="1"/>
              <a:t>bsw.h</a:t>
            </a:r>
            <a:endParaRPr kumimoji="1" lang="en-US" altLang="ko-Kore-KR" dirty="0"/>
          </a:p>
          <a:p>
            <a:pPr lvl="1"/>
            <a:r>
              <a:rPr kumimoji="1" lang="en-US" altLang="ko-Kore-KR" dirty="0"/>
              <a:t>Basic SW</a:t>
            </a:r>
          </a:p>
          <a:p>
            <a:pPr lvl="1"/>
            <a:r>
              <a:rPr kumimoji="1" lang="en-US" altLang="ko-Kore-KR" dirty="0"/>
              <a:t>OS</a:t>
            </a:r>
            <a:r>
              <a:rPr kumimoji="1" lang="ko-KR" altLang="en-US" dirty="0"/>
              <a:t>가</a:t>
            </a:r>
            <a:r>
              <a:rPr kumimoji="1" lang="en-US" altLang="ko-Kore-KR" dirty="0"/>
              <a:t> </a:t>
            </a:r>
            <a:r>
              <a:rPr kumimoji="1" lang="ko-KR" altLang="en-US" dirty="0"/>
              <a:t>시작되는</a:t>
            </a:r>
            <a:r>
              <a:rPr kumimoji="1" lang="en-US" altLang="ko-KR" dirty="0"/>
              <a:t> main() </a:t>
            </a:r>
            <a:r>
              <a:rPr kumimoji="1" lang="ko-KR" altLang="en-US" dirty="0"/>
              <a:t>함수</a:t>
            </a:r>
            <a:endParaRPr kumimoji="1" lang="en-US" altLang="ko-KR" dirty="0"/>
          </a:p>
          <a:p>
            <a:pPr lvl="1"/>
            <a:r>
              <a:rPr kumimoji="1" lang="en-US" altLang="ko-Kore-KR" dirty="0" err="1"/>
              <a:t>mdelay</a:t>
            </a:r>
            <a:r>
              <a:rPr kumimoji="1" lang="en-US" altLang="ko-Kore-KR" dirty="0"/>
              <a:t>() </a:t>
            </a:r>
            <a:r>
              <a:rPr kumimoji="1" lang="en-US" altLang="ko-Kore-KR" dirty="0" err="1"/>
              <a:t>ms</a:t>
            </a:r>
            <a:r>
              <a:rPr kumimoji="1" lang="en-US" altLang="ko-Kore-KR" dirty="0"/>
              <a:t> </a:t>
            </a:r>
            <a:r>
              <a:rPr kumimoji="1" lang="ko-KR" altLang="en-US" dirty="0"/>
              <a:t>단위 </a:t>
            </a:r>
            <a:r>
              <a:rPr kumimoji="1" lang="en-US" altLang="ko-Kore-KR" dirty="0"/>
              <a:t>delay </a:t>
            </a:r>
            <a:r>
              <a:rPr kumimoji="1" lang="ko-KR" altLang="en-US" dirty="0"/>
              <a:t>함수</a:t>
            </a:r>
            <a:endParaRPr kumimoji="1" lang="en-US" altLang="ko-KR" dirty="0"/>
          </a:p>
          <a:p>
            <a:pPr lvl="1"/>
            <a:r>
              <a:rPr kumimoji="1" lang="en-US" altLang="ko-Kore-KR" dirty="0" err="1"/>
              <a:t>printfSerial</a:t>
            </a:r>
            <a:r>
              <a:rPr kumimoji="1" lang="en-US" altLang="ko-Kore-KR" dirty="0"/>
              <a:t>() </a:t>
            </a:r>
            <a:r>
              <a:rPr kumimoji="1" lang="ko-KR" altLang="en-US" dirty="0"/>
              <a:t>콘솔 출력 함수 등</a:t>
            </a:r>
            <a:endParaRPr kumimoji="1" lang="en-US" altLang="ko-Kore-KR" dirty="0"/>
          </a:p>
          <a:p>
            <a:pPr marL="0" indent="0">
              <a:buNone/>
            </a:pPr>
            <a:endParaRPr kumimoji="1" lang="en-US" altLang="ko-Kore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4B1AB1-B22B-EC56-863C-06EFDA4458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223" t="4992" r="5810" b="7004"/>
          <a:stretch/>
        </p:blipFill>
        <p:spPr>
          <a:xfrm>
            <a:off x="7818634" y="1188000"/>
            <a:ext cx="3875352" cy="537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172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B0268-9AB0-ABC0-56D6-031A3D6C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AF078-0275-BFB9-4CCA-14F62748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Erika Enterprise Project Structure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DF0E8A-E0B3-7384-DB6B-1A9AB8A04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 err="1"/>
              <a:t>asw.c</a:t>
            </a:r>
            <a:endParaRPr kumimoji="1" lang="en-US" altLang="ko-Kore-KR" dirty="0"/>
          </a:p>
          <a:p>
            <a:pPr lvl="1"/>
            <a:r>
              <a:rPr kumimoji="1" lang="en-US" altLang="ko-Kore-KR" dirty="0"/>
              <a:t>Application SW</a:t>
            </a:r>
          </a:p>
          <a:p>
            <a:pPr lvl="1"/>
            <a:r>
              <a:rPr kumimoji="1" lang="ko-KR" altLang="en-US" dirty="0"/>
              <a:t>사용자 작성 </a:t>
            </a:r>
            <a:r>
              <a:rPr kumimoji="1" lang="en-US" altLang="ko-KR" dirty="0"/>
              <a:t>C </a:t>
            </a:r>
            <a:r>
              <a:rPr kumimoji="1" lang="ko-KR" altLang="en-US" dirty="0"/>
              <a:t>코드</a:t>
            </a:r>
            <a:r>
              <a:rPr kumimoji="1" lang="en-US" altLang="ko-KR" dirty="0"/>
              <a:t> (C++</a:t>
            </a:r>
            <a:r>
              <a:rPr kumimoji="1" lang="ko-KR" altLang="en-US" dirty="0"/>
              <a:t>도 가능</a:t>
            </a:r>
            <a:r>
              <a:rPr kumimoji="1" lang="en-US" altLang="ko-KR" dirty="0"/>
              <a:t>)</a:t>
            </a:r>
          </a:p>
          <a:p>
            <a:pPr lvl="1"/>
            <a:r>
              <a:rPr kumimoji="1" lang="en-US" altLang="ko-Kore-KR" dirty="0"/>
              <a:t>BSW </a:t>
            </a:r>
            <a:r>
              <a:rPr kumimoji="1" lang="ko-KR" altLang="en-US" dirty="0"/>
              <a:t>등을 이용하여</a:t>
            </a:r>
            <a:r>
              <a:rPr kumimoji="1" lang="en-US" altLang="ko-KR" dirty="0"/>
              <a:t> </a:t>
            </a:r>
            <a:r>
              <a:rPr kumimoji="1" lang="en-US" altLang="ko-Kore-KR" dirty="0"/>
              <a:t>Application </a:t>
            </a:r>
            <a:r>
              <a:rPr kumimoji="1" lang="ko-KR" altLang="en-US" dirty="0"/>
              <a:t>레벨에서의 </a:t>
            </a:r>
            <a:r>
              <a:rPr kumimoji="1" lang="en-US" altLang="ko-KR" dirty="0"/>
              <a:t>TASK </a:t>
            </a:r>
            <a:r>
              <a:rPr kumimoji="1" lang="ko-KR" altLang="en-US" dirty="0"/>
              <a:t>동작 정의</a:t>
            </a:r>
            <a:endParaRPr kumimoji="1" lang="en-US" altLang="ko-Kore-KR" dirty="0"/>
          </a:p>
          <a:p>
            <a:pPr marL="0" indent="0">
              <a:buNone/>
            </a:pPr>
            <a:endParaRPr kumimoji="1" lang="en-US" altLang="ko-Kore-KR" dirty="0"/>
          </a:p>
          <a:p>
            <a:endParaRPr kumimoji="1" lang="en-US" altLang="ko-Kore-KR" dirty="0"/>
          </a:p>
          <a:p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A41C84-086D-DBB0-1C9D-0464C335D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369" y="3564435"/>
            <a:ext cx="6180300" cy="238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75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50541-5130-2222-C079-EE2FC848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8E4499-7C52-7B7C-5B6F-DB16C054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Erika Enterprise Project Structure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B47989-8DE5-C71A-C444-696D4389B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 err="1"/>
              <a:t>Makefile</a:t>
            </a:r>
            <a:endParaRPr kumimoji="1" lang="en-US" altLang="ko-Kore-KR" dirty="0"/>
          </a:p>
          <a:p>
            <a:pPr lvl="1"/>
            <a:r>
              <a:rPr kumimoji="1" lang="en-US" altLang="ko-Kore-KR" dirty="0"/>
              <a:t>Make </a:t>
            </a:r>
            <a:r>
              <a:rPr kumimoji="1" lang="ko-KR" altLang="en-US" dirty="0"/>
              <a:t>규칙 서술 파일</a:t>
            </a:r>
            <a:endParaRPr kumimoji="1" lang="en-US" altLang="ko-KR" dirty="0"/>
          </a:p>
          <a:p>
            <a:pPr lvl="1"/>
            <a:r>
              <a:rPr kumimoji="1" lang="en-US" altLang="ko-Kore-KR" dirty="0"/>
              <a:t>make config</a:t>
            </a:r>
          </a:p>
          <a:p>
            <a:pPr marL="457200" lvl="1" indent="0">
              <a:buNone/>
            </a:pPr>
            <a:r>
              <a:rPr kumimoji="1" lang="en-US" altLang="ko-Kore-KR" dirty="0"/>
              <a:t>   </a:t>
            </a:r>
            <a:r>
              <a:rPr kumimoji="1" lang="en-US" altLang="ko-KR" dirty="0"/>
              <a:t>out, </a:t>
            </a:r>
            <a:r>
              <a:rPr kumimoji="1" lang="en-US" altLang="ko-KR" dirty="0" err="1"/>
              <a:t>erika</a:t>
            </a:r>
            <a:r>
              <a:rPr kumimoji="1" lang="en-US" altLang="ko-KR" dirty="0"/>
              <a:t> </a:t>
            </a:r>
            <a:r>
              <a:rPr kumimoji="1" lang="ko-KR" altLang="en-US" dirty="0"/>
              <a:t>폴더 삭제 후 </a:t>
            </a:r>
            <a:endParaRPr kumimoji="1" lang="en-US" altLang="ko-KR" dirty="0"/>
          </a:p>
          <a:p>
            <a:pPr marL="457200" lvl="1" indent="0">
              <a:buNone/>
            </a:pPr>
            <a:r>
              <a:rPr kumimoji="1" lang="en-US" altLang="ko-Kore-KR" dirty="0"/>
              <a:t>   </a:t>
            </a:r>
            <a:r>
              <a:rPr kumimoji="1" lang="en-US" altLang="ko-Kore-KR" dirty="0" err="1"/>
              <a:t>conf.oil</a:t>
            </a:r>
            <a:r>
              <a:rPr kumimoji="1" lang="en-US" altLang="ko-Kore-KR" dirty="0"/>
              <a:t> </a:t>
            </a:r>
            <a:r>
              <a:rPr kumimoji="1" lang="ko-KR" altLang="en-US" dirty="0"/>
              <a:t>파일을 기반으로 코드 생성</a:t>
            </a:r>
            <a:endParaRPr kumimoji="1" lang="en-US" altLang="ko-Kore-KR" dirty="0"/>
          </a:p>
          <a:p>
            <a:pPr lvl="1"/>
            <a:r>
              <a:rPr kumimoji="1" lang="en-US" altLang="ko-Kore-KR" dirty="0"/>
              <a:t>make (build)</a:t>
            </a:r>
          </a:p>
          <a:p>
            <a:pPr marL="457200" lvl="1" indent="0">
              <a:buNone/>
            </a:pPr>
            <a:r>
              <a:rPr kumimoji="1" lang="en-US" altLang="ko-Kore-KR" dirty="0"/>
              <a:t>   </a:t>
            </a:r>
            <a:r>
              <a:rPr kumimoji="1" lang="ko-KR" altLang="en-US" dirty="0"/>
              <a:t>프로젝트 빌드</a:t>
            </a:r>
            <a:endParaRPr kumimoji="1" lang="en-US" altLang="ko-Kore-KR" dirty="0"/>
          </a:p>
          <a:p>
            <a:pPr lvl="1"/>
            <a:r>
              <a:rPr kumimoji="1" lang="en-US" altLang="ko-Kore-KR" dirty="0"/>
              <a:t>make upload</a:t>
            </a:r>
          </a:p>
          <a:p>
            <a:pPr marL="457200" lvl="1" indent="0">
              <a:buNone/>
            </a:pPr>
            <a:r>
              <a:rPr kumimoji="1" lang="en-US" altLang="ko-Kore-KR" dirty="0"/>
              <a:t>   </a:t>
            </a:r>
            <a:r>
              <a:rPr kumimoji="1" lang="ko-KR" altLang="en-US" dirty="0"/>
              <a:t>빌드 결과 생성된 </a:t>
            </a:r>
            <a:r>
              <a:rPr kumimoji="1" lang="en-US" altLang="ko-KR" dirty="0"/>
              <a:t>.hex</a:t>
            </a:r>
            <a:r>
              <a:rPr kumimoji="1" lang="ko-KR" altLang="en-US" dirty="0"/>
              <a:t>파일을</a:t>
            </a:r>
            <a:endParaRPr kumimoji="1" lang="en-US" altLang="ko-KR" dirty="0"/>
          </a:p>
          <a:p>
            <a:pPr marL="457200" lvl="1" indent="0">
              <a:buNone/>
            </a:pPr>
            <a:r>
              <a:rPr kumimoji="1" lang="en-US" altLang="ko-Kore-KR" dirty="0"/>
              <a:t>   Arduino </a:t>
            </a:r>
            <a:r>
              <a:rPr kumimoji="1" lang="ko-KR" altLang="en-US" dirty="0"/>
              <a:t>보드에 업로드</a:t>
            </a:r>
            <a:endParaRPr kumimoji="1" lang="en-US" altLang="ko-Kore-KR" dirty="0"/>
          </a:p>
          <a:p>
            <a:pPr marL="0" indent="0">
              <a:buNone/>
            </a:pPr>
            <a:endParaRPr kumimoji="1" lang="en-US" altLang="ko-Kore-KR" dirty="0"/>
          </a:p>
          <a:p>
            <a:endParaRPr kumimoji="1" lang="en-US" altLang="ko-Kore-KR" dirty="0"/>
          </a:p>
          <a:p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F352BC-1D5B-C295-617C-54934BEB4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741" y="1735093"/>
            <a:ext cx="5191238" cy="419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32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5058B-07BB-C8A2-9E7D-04E15A6C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02. Ti</a:t>
            </a:r>
            <a:r>
              <a:rPr kumimoji="1" lang="en-US" altLang="ko-KR" dirty="0"/>
              <a:t>mer</a:t>
            </a:r>
            <a:endParaRPr kumimoji="1" lang="ko-Kore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6524BD9-11F0-1C9E-970E-0C8FEE46C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ore-KR" dirty="0" err="1"/>
              <a:t>asw.c</a:t>
            </a:r>
            <a:r>
              <a:rPr lang="en-US" altLang="ko-Kore-KR" dirty="0"/>
              <a:t> </a:t>
            </a:r>
            <a:r>
              <a:rPr lang="ko-KR" altLang="en-US" dirty="0"/>
              <a:t>파일에 </a:t>
            </a:r>
            <a:r>
              <a:rPr lang="en-US" altLang="ko-Kore-KR" dirty="0"/>
              <a:t>ISR2</a:t>
            </a:r>
            <a:r>
              <a:rPr lang="ko-KR" altLang="en-US" dirty="0"/>
              <a:t>로 빈 </a:t>
            </a:r>
            <a:r>
              <a:rPr lang="en-US" altLang="ko-Kore-KR" dirty="0" err="1"/>
              <a:t>TimerISR</a:t>
            </a:r>
            <a:r>
              <a:rPr lang="en-US" altLang="ko-Kore-KR" dirty="0"/>
              <a:t> </a:t>
            </a:r>
            <a:r>
              <a:rPr lang="ko-KR" altLang="en-US" dirty="0"/>
              <a:t>콜백함수</a:t>
            </a:r>
            <a:r>
              <a:rPr lang="en-US" altLang="ko-Kore-KR" dirty="0"/>
              <a:t> </a:t>
            </a:r>
            <a:r>
              <a:rPr lang="ko-Kore-KR" altLang="en-US" dirty="0"/>
              <a:t>추가</a:t>
            </a:r>
            <a:endParaRPr lang="en-US" altLang="ko-Kore-KR" dirty="0"/>
          </a:p>
          <a:p>
            <a:r>
              <a:rPr lang="en-US" altLang="ko-Kore-KR" dirty="0"/>
              <a:t>OIL </a:t>
            </a:r>
            <a:r>
              <a:rPr lang="ko-Kore-KR" altLang="en-US" dirty="0"/>
              <a:t>파일에</a:t>
            </a:r>
            <a:r>
              <a:rPr lang="ko-KR" altLang="en-US"/>
              <a:t> </a:t>
            </a:r>
            <a:r>
              <a:rPr lang="en-US" altLang="ko-KR" dirty="0" err="1"/>
              <a:t>TimerISR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  <a:endParaRPr lang="en-US" altLang="ko-KR" dirty="0"/>
          </a:p>
          <a:p>
            <a:pPr lvl="1"/>
            <a:r>
              <a:rPr lang="en-US" altLang="ko-Kore-KR" dirty="0"/>
              <a:t>Category 2</a:t>
            </a:r>
          </a:p>
          <a:p>
            <a:pPr lvl="1"/>
            <a:r>
              <a:rPr lang="en-US" altLang="ko-Kore-KR" dirty="0"/>
              <a:t>Timer 1 Compare Match A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747CE-4D8B-F595-253C-209217F0E140}"/>
              </a:ext>
            </a:extLst>
          </p:cNvPr>
          <p:cNvSpPr txBox="1"/>
          <p:nvPr/>
        </p:nvSpPr>
        <p:spPr>
          <a:xfrm>
            <a:off x="333021" y="3781888"/>
            <a:ext cx="5310326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TimerISR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EC99D-B7BE-BEEA-3021-722575BAAF00}"/>
              </a:ext>
            </a:extLst>
          </p:cNvPr>
          <p:cNvSpPr txBox="1"/>
          <p:nvPr/>
        </p:nvSpPr>
        <p:spPr>
          <a:xfrm>
            <a:off x="6096000" y="3781888"/>
            <a:ext cx="5310326" cy="28623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TimerISR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CATEGORY = 2;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SOURCE = 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"TIMER1_COMPA"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C3A29-AA55-4BDA-ADE2-81B68F8788F3}"/>
              </a:ext>
            </a:extLst>
          </p:cNvPr>
          <p:cNvSpPr txBox="1"/>
          <p:nvPr/>
        </p:nvSpPr>
        <p:spPr>
          <a:xfrm>
            <a:off x="2514313" y="3363749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A5259-302E-4333-ABB6-8486802E08B7}"/>
              </a:ext>
            </a:extLst>
          </p:cNvPr>
          <p:cNvSpPr txBox="1"/>
          <p:nvPr/>
        </p:nvSpPr>
        <p:spPr>
          <a:xfrm>
            <a:off x="8357020" y="3407866"/>
            <a:ext cx="98061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conf.oil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689221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5058B-07BB-C8A2-9E7D-04E15A6C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02. Ti</a:t>
            </a:r>
            <a:r>
              <a:rPr kumimoji="1" lang="en-US" altLang="ko-KR" dirty="0"/>
              <a:t>mer</a:t>
            </a:r>
            <a:endParaRPr kumimoji="1" lang="ko-Kore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6524BD9-11F0-1C9E-970E-0C8FEE46C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ore-KR" dirty="0" err="1"/>
              <a:t>mdelay</a:t>
            </a:r>
            <a:r>
              <a:rPr lang="en-US" altLang="ko-Kore-KR" dirty="0"/>
              <a:t> </a:t>
            </a:r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이용하여 </a:t>
            </a:r>
            <a:r>
              <a:rPr lang="en-US" altLang="ko-KR" dirty="0"/>
              <a:t>3</a:t>
            </a:r>
            <a:r>
              <a:rPr lang="ko-KR" altLang="en-US" dirty="0"/>
              <a:t>초의 </a:t>
            </a:r>
            <a:r>
              <a:rPr lang="en-US" altLang="ko-KR" dirty="0"/>
              <a:t>Task1 </a:t>
            </a:r>
            <a:r>
              <a:rPr lang="ko-KR" altLang="en-US" dirty="0"/>
              <a:t>실행시간 표현  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747CE-4D8B-F595-253C-209217F0E140}"/>
              </a:ext>
            </a:extLst>
          </p:cNvPr>
          <p:cNvSpPr txBox="1"/>
          <p:nvPr/>
        </p:nvSpPr>
        <p:spPr>
          <a:xfrm>
            <a:off x="374875" y="1819919"/>
            <a:ext cx="5310326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TASK(Task1)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World\n"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mdelay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(3000);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"Goodbye World\n"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TerminateTask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CAAAD-6A98-4DB9-8877-B3F5888C0DA0}"/>
              </a:ext>
            </a:extLst>
          </p:cNvPr>
          <p:cNvSpPr txBox="1"/>
          <p:nvPr/>
        </p:nvSpPr>
        <p:spPr>
          <a:xfrm>
            <a:off x="2635895" y="1500185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A2E2DD0-1409-D952-1120-68833B908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849" y="4126191"/>
            <a:ext cx="7936473" cy="224948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7517F9D-8AC6-BBE0-FE81-55E5244D7094}"/>
              </a:ext>
            </a:extLst>
          </p:cNvPr>
          <p:cNvSpPr/>
          <p:nvPr/>
        </p:nvSpPr>
        <p:spPr>
          <a:xfrm>
            <a:off x="3793251" y="5306441"/>
            <a:ext cx="1204459" cy="3906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53983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0747CE-4D8B-F595-253C-209217F0E140}"/>
              </a:ext>
            </a:extLst>
          </p:cNvPr>
          <p:cNvSpPr txBox="1"/>
          <p:nvPr/>
        </p:nvSpPr>
        <p:spPr>
          <a:xfrm>
            <a:off x="483746" y="1677999"/>
            <a:ext cx="5310326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TimerISR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 = 0;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"\n%4ld: "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0FEC2E5-47E0-B4D1-3868-D78E25F2E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145" y="3890284"/>
            <a:ext cx="7982360" cy="28639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CD5058B-07BB-C8A2-9E7D-04E15A6C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02. Ti</a:t>
            </a:r>
            <a:r>
              <a:rPr kumimoji="1" lang="en-US" altLang="ko-KR" dirty="0"/>
              <a:t>mer</a:t>
            </a:r>
            <a:endParaRPr kumimoji="1" lang="ko-Kore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6524BD9-11F0-1C9E-970E-0C8FEE46C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TimerISR</a:t>
            </a:r>
            <a:r>
              <a:rPr lang="en-US" altLang="ko-KR" dirty="0"/>
              <a:t> </a:t>
            </a:r>
            <a:r>
              <a:rPr lang="ko-KR" altLang="en-US" dirty="0"/>
              <a:t>이용 </a:t>
            </a:r>
            <a:r>
              <a:rPr lang="ko-KR" altLang="en-US" dirty="0" err="1"/>
              <a:t>초단위</a:t>
            </a:r>
            <a:r>
              <a:rPr lang="en-US" altLang="ko-KR" dirty="0"/>
              <a:t> </a:t>
            </a:r>
            <a:r>
              <a:rPr lang="ko-KR" altLang="en-US" dirty="0"/>
              <a:t>시간 출력  </a:t>
            </a:r>
            <a:endParaRPr lang="ko-Kore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F18BA-AA44-4FEB-81D2-510615F670AB}"/>
              </a:ext>
            </a:extLst>
          </p:cNvPr>
          <p:cNvSpPr txBox="1"/>
          <p:nvPr/>
        </p:nvSpPr>
        <p:spPr>
          <a:xfrm>
            <a:off x="2744766" y="1354834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A6BC4-0A7E-D8FF-9A64-43F0147E27C8}"/>
              </a:ext>
            </a:extLst>
          </p:cNvPr>
          <p:cNvSpPr txBox="1"/>
          <p:nvPr/>
        </p:nvSpPr>
        <p:spPr>
          <a:xfrm>
            <a:off x="5409363" y="5152516"/>
            <a:ext cx="906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800" dirty="0">
                <a:solidFill>
                  <a:srgbClr val="FF0000"/>
                </a:solidFill>
              </a:rPr>
              <a:t>3</a:t>
            </a:r>
            <a:r>
              <a:rPr kumimoji="1" lang="ko-KR" altLang="en-US" sz="2800" dirty="0">
                <a:solidFill>
                  <a:srgbClr val="FF0000"/>
                </a:solidFill>
              </a:rPr>
              <a:t>초</a:t>
            </a:r>
            <a:endParaRPr kumimoji="1" lang="ko-Kore-KR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오른쪽 중괄호[R] 5">
            <a:extLst>
              <a:ext uri="{FF2B5EF4-FFF2-40B4-BE49-F238E27FC236}">
                <a16:creationId xmlns:a16="http://schemas.microsoft.com/office/drawing/2014/main" id="{B2729793-F512-32CE-1CAB-5D17D6C4B902}"/>
              </a:ext>
            </a:extLst>
          </p:cNvPr>
          <p:cNvSpPr/>
          <p:nvPr/>
        </p:nvSpPr>
        <p:spPr>
          <a:xfrm>
            <a:off x="5205046" y="5054322"/>
            <a:ext cx="272830" cy="719608"/>
          </a:xfrm>
          <a:prstGeom prst="rightBrace">
            <a:avLst>
              <a:gd name="adj1" fmla="val 4279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3BAA60-6944-4CCD-3929-14D17353EFCF}"/>
              </a:ext>
            </a:extLst>
          </p:cNvPr>
          <p:cNvSpPr/>
          <p:nvPr/>
        </p:nvSpPr>
        <p:spPr>
          <a:xfrm>
            <a:off x="3909304" y="5285053"/>
            <a:ext cx="321052" cy="11006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5005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5058B-07BB-C8A2-9E7D-04E15A6C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03. Tasks</a:t>
            </a:r>
            <a:endParaRPr kumimoji="1" lang="ko-Kore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6524BD9-11F0-1C9E-970E-0C8FEE46C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015999"/>
            <a:ext cx="5762980" cy="5628211"/>
          </a:xfrm>
        </p:spPr>
        <p:txBody>
          <a:bodyPr/>
          <a:lstStyle/>
          <a:p>
            <a:r>
              <a:rPr lang="ko-KR" altLang="en-US" dirty="0"/>
              <a:t>높은 우선순위의 </a:t>
            </a:r>
            <a:r>
              <a:rPr lang="en-US" altLang="ko-KR" dirty="0"/>
              <a:t>Task2 </a:t>
            </a:r>
            <a:r>
              <a:rPr lang="ko-KR" altLang="en-US" dirty="0"/>
              <a:t>추가</a:t>
            </a:r>
            <a:endParaRPr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747CE-4D8B-F595-253C-209217F0E140}"/>
              </a:ext>
            </a:extLst>
          </p:cNvPr>
          <p:cNvSpPr txBox="1"/>
          <p:nvPr/>
        </p:nvSpPr>
        <p:spPr>
          <a:xfrm>
            <a:off x="333020" y="1260764"/>
            <a:ext cx="5762979" cy="53834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TASK(Task1)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"Task1 Begins..."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mdelay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(3000);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"Task1 Finishes..."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TerminateTask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TASK(Task2)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"Task2 Begins..."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mdelay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(3000);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"Task2 Finishes..."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TerminateTask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EC99D-B7BE-BEEA-3021-722575BAAF00}"/>
              </a:ext>
            </a:extLst>
          </p:cNvPr>
          <p:cNvSpPr txBox="1"/>
          <p:nvPr/>
        </p:nvSpPr>
        <p:spPr>
          <a:xfrm>
            <a:off x="6096000" y="3781888"/>
            <a:ext cx="5310326" cy="28623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Task2 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PRIORITY = 2;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STACK = SHARED;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SCHEDULE = FULL; </a:t>
            </a:r>
            <a:r>
              <a:rPr lang="en" altLang="ko-Kore-KR" sz="20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preemptive</a:t>
            </a:r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AUTOSTART = TRUE; 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ACTIVATION = 1; 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3" name="모서리가 둥근 사각형 설명선[R] 2">
            <a:extLst>
              <a:ext uri="{FF2B5EF4-FFF2-40B4-BE49-F238E27FC236}">
                <a16:creationId xmlns:a16="http://schemas.microsoft.com/office/drawing/2014/main" id="{981E82FC-BF0E-3728-1B1E-ABCF18CF7735}"/>
              </a:ext>
            </a:extLst>
          </p:cNvPr>
          <p:cNvSpPr/>
          <p:nvPr/>
        </p:nvSpPr>
        <p:spPr>
          <a:xfrm>
            <a:off x="9112787" y="2278683"/>
            <a:ext cx="2302484" cy="1408231"/>
          </a:xfrm>
          <a:prstGeom prst="wedgeRoundRectCallout">
            <a:avLst>
              <a:gd name="adj1" fmla="val -79489"/>
              <a:gd name="adj2" fmla="val 105810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dirty="0"/>
              <a:t>클수록 높은 우선순위</a:t>
            </a:r>
            <a:endParaRPr kumimoji="1" lang="ko-Kore-KR" alt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9B999-720E-CFC3-C604-57CBA6506013}"/>
              </a:ext>
            </a:extLst>
          </p:cNvPr>
          <p:cNvSpPr txBox="1"/>
          <p:nvPr/>
        </p:nvSpPr>
        <p:spPr>
          <a:xfrm>
            <a:off x="2820367" y="937599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93C69-B182-8555-A021-2951409E2BC6}"/>
              </a:ext>
            </a:extLst>
          </p:cNvPr>
          <p:cNvSpPr txBox="1"/>
          <p:nvPr/>
        </p:nvSpPr>
        <p:spPr>
          <a:xfrm>
            <a:off x="7429730" y="3458723"/>
            <a:ext cx="10318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conf.oil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471417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2D6618-9177-4E45-1223-9F97AF5F7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749" y="2000176"/>
            <a:ext cx="8782501" cy="28576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40834F-3BA5-A092-EF81-22F5B9D1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03. Tasks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89E8D-F9CC-EF56-59A2-9EDC44528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043157"/>
          </a:xfrm>
        </p:spPr>
        <p:txBody>
          <a:bodyPr/>
          <a:lstStyle/>
          <a:p>
            <a:r>
              <a:rPr kumimoji="1" lang="en-US" altLang="ko-Kore-KR" dirty="0"/>
              <a:t>Task</a:t>
            </a:r>
            <a:r>
              <a:rPr kumimoji="1" lang="en-US" altLang="ko-KR" dirty="0"/>
              <a:t>2</a:t>
            </a:r>
            <a:r>
              <a:rPr kumimoji="1" lang="ko-KR" altLang="en-US" dirty="0"/>
              <a:t>가 먼저 시작</a:t>
            </a:r>
            <a:r>
              <a:rPr kumimoji="1" lang="en-US" altLang="ko-KR" dirty="0"/>
              <a:t>, Task1 </a:t>
            </a:r>
            <a:r>
              <a:rPr kumimoji="1" lang="ko-KR" altLang="en-US" dirty="0"/>
              <a:t>대기</a:t>
            </a:r>
            <a:endParaRPr kumimoji="1" lang="en-US" altLang="ko-KR" dirty="0"/>
          </a:p>
          <a:p>
            <a:r>
              <a:rPr kumimoji="1" lang="en-US" altLang="ko-KR" dirty="0"/>
              <a:t>Task2 </a:t>
            </a:r>
            <a:r>
              <a:rPr kumimoji="1" lang="ko-KR" altLang="en-US" dirty="0"/>
              <a:t>종료 후 </a:t>
            </a:r>
            <a:r>
              <a:rPr kumimoji="1" lang="en-US" altLang="ko-KR" dirty="0"/>
              <a:t>Task1 </a:t>
            </a:r>
            <a:r>
              <a:rPr kumimoji="1" lang="ko-KR" altLang="en-US" dirty="0"/>
              <a:t>시작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우선순위를 바꾼다면</a:t>
            </a:r>
            <a:r>
              <a:rPr kumimoji="1" lang="en-US" altLang="ko-KR" dirty="0"/>
              <a:t>?</a:t>
            </a:r>
          </a:p>
          <a:p>
            <a:endParaRPr kumimoji="1" lang="ko-Kore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1FBF1-2EAB-976F-9D7A-DFB5821A1375}"/>
              </a:ext>
            </a:extLst>
          </p:cNvPr>
          <p:cNvSpPr/>
          <p:nvPr/>
        </p:nvSpPr>
        <p:spPr>
          <a:xfrm>
            <a:off x="1802194" y="3081577"/>
            <a:ext cx="3015991" cy="11889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216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04. Task Activation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5606-F23A-5D0F-72CD-AD85E419A5E3}"/>
              </a:ext>
            </a:extLst>
          </p:cNvPr>
          <p:cNvSpPr txBox="1"/>
          <p:nvPr/>
        </p:nvSpPr>
        <p:spPr>
          <a:xfrm>
            <a:off x="333020" y="1254760"/>
            <a:ext cx="5762979" cy="5389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TimerISR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 = -4;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(c == 0)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ActivateTask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(Task1);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"\n%4ld: "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TASK(Task1)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"Task1 Begins..."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mdelay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(3000);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ActivateTask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(Task2);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mdelay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(3000);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"Task1 Finishes..."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TerminateTask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831B0-B01D-3D7C-0033-FBB838FA240A}"/>
              </a:ext>
            </a:extLst>
          </p:cNvPr>
          <p:cNvSpPr txBox="1"/>
          <p:nvPr/>
        </p:nvSpPr>
        <p:spPr>
          <a:xfrm>
            <a:off x="6095999" y="3845523"/>
            <a:ext cx="5762979" cy="27986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Task1 {</a:t>
            </a:r>
          </a:p>
          <a:p>
            <a:r>
              <a:rPr lang="en" altLang="ko-Kore-KR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…</a:t>
            </a:r>
          </a:p>
          <a:p>
            <a:r>
              <a:rPr lang="en" altLang="ko-Kore-K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AUTOSTART = </a:t>
            </a:r>
            <a:r>
              <a:rPr lang="en" altLang="ko-Kore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" altLang="ko-Kore-KR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1600" dirty="0">
                <a:latin typeface="Consolas" panose="020B0609020204030204" pitchFamily="49" charset="0"/>
                <a:cs typeface="Consolas" panose="020B0609020204030204" pitchFamily="49" charset="0"/>
              </a:rPr>
              <a:t>    …</a:t>
            </a:r>
            <a:endParaRPr lang="en" altLang="ko-Kore-KR" sz="16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" altLang="ko-Kore-KR" sz="16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6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r>
              <a:rPr lang="en" altLang="ko-Kore-KR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Task2 {</a:t>
            </a:r>
          </a:p>
          <a:p>
            <a:r>
              <a:rPr lang="en" altLang="ko-Kore-KR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…</a:t>
            </a:r>
          </a:p>
          <a:p>
            <a:r>
              <a:rPr lang="en" altLang="ko-Kore-K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AUTOSTART = </a:t>
            </a:r>
            <a:r>
              <a:rPr lang="en" altLang="ko-Kore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" altLang="ko-Kore-KR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1600" dirty="0">
                <a:latin typeface="Consolas" panose="020B0609020204030204" pitchFamily="49" charset="0"/>
                <a:cs typeface="Consolas" panose="020B0609020204030204" pitchFamily="49" charset="0"/>
              </a:rPr>
              <a:t>    …</a:t>
            </a:r>
            <a:endParaRPr lang="en" altLang="ko-Kore-KR" sz="16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6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B7ADF6-46EF-1E28-2B72-DDA8FF6061FF}"/>
              </a:ext>
            </a:extLst>
          </p:cNvPr>
          <p:cNvSpPr txBox="1"/>
          <p:nvPr/>
        </p:nvSpPr>
        <p:spPr>
          <a:xfrm>
            <a:off x="6096000" y="1254759"/>
            <a:ext cx="5762979" cy="22675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TASK(Task2)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"Task2 Begins..."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mdelay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(3000);</a:t>
            </a:r>
          </a:p>
          <a:p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"Task2 Finishes..."</a:t>
            </a:r>
            <a:r>
              <a:rPr lang="en" altLang="ko-Kore-KR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TerminateTask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C360A-74C5-0D3B-82E6-2E0A8A4602E7}"/>
              </a:ext>
            </a:extLst>
          </p:cNvPr>
          <p:cNvSpPr txBox="1"/>
          <p:nvPr/>
        </p:nvSpPr>
        <p:spPr>
          <a:xfrm>
            <a:off x="2734007" y="931595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8220B-F48B-A6E2-3E2C-72ADF3F3EF4E}"/>
              </a:ext>
            </a:extLst>
          </p:cNvPr>
          <p:cNvSpPr txBox="1"/>
          <p:nvPr/>
        </p:nvSpPr>
        <p:spPr>
          <a:xfrm>
            <a:off x="8461569" y="3522357"/>
            <a:ext cx="10318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conf.oil</a:t>
            </a:r>
            <a:endParaRPr lang="ko-KR" altLang="en-US" sz="1500" dirty="0"/>
          </a:p>
        </p:txBody>
      </p:sp>
      <p:sp>
        <p:nvSpPr>
          <p:cNvPr id="3" name="모서리가 둥근 사각형 설명선[R] 2">
            <a:extLst>
              <a:ext uri="{FF2B5EF4-FFF2-40B4-BE49-F238E27FC236}">
                <a16:creationId xmlns:a16="http://schemas.microsoft.com/office/drawing/2014/main" id="{678864D4-8298-64CB-71EB-5774C3085FAE}"/>
              </a:ext>
            </a:extLst>
          </p:cNvPr>
          <p:cNvSpPr/>
          <p:nvPr/>
        </p:nvSpPr>
        <p:spPr>
          <a:xfrm>
            <a:off x="9384093" y="4657748"/>
            <a:ext cx="2271995" cy="1324308"/>
          </a:xfrm>
          <a:prstGeom prst="wedgeRoundRectCallout">
            <a:avLst>
              <a:gd name="adj1" fmla="val -79931"/>
              <a:gd name="adj2" fmla="val -52013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500" dirty="0"/>
              <a:t>Task</a:t>
            </a:r>
            <a:r>
              <a:rPr kumimoji="1" lang="ko-KR" altLang="en-US" sz="2500" dirty="0"/>
              <a:t>의 </a:t>
            </a:r>
            <a:endParaRPr kumimoji="1" lang="en-US" altLang="ko-KR" sz="2500" dirty="0"/>
          </a:p>
          <a:p>
            <a:pPr algn="ctr"/>
            <a:r>
              <a:rPr kumimoji="1" lang="ko-KR" altLang="en-US" sz="2500" dirty="0"/>
              <a:t>자동실행 </a:t>
            </a:r>
            <a:r>
              <a:rPr kumimoji="1" lang="en-US" altLang="ko-KR" sz="2500" dirty="0"/>
              <a:t>Off</a:t>
            </a:r>
            <a:endParaRPr kumimoji="1" lang="ko-Kore-KR" altLang="en-US" sz="2500" dirty="0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27B5965D-A07C-DAF8-948D-EDF18EE0E35A}"/>
              </a:ext>
            </a:extLst>
          </p:cNvPr>
          <p:cNvCxnSpPr>
            <a:cxnSpLocks/>
          </p:cNvCxnSpPr>
          <p:nvPr/>
        </p:nvCxnSpPr>
        <p:spPr>
          <a:xfrm rot="10800000">
            <a:off x="4366010" y="2672862"/>
            <a:ext cx="2150349" cy="1843872"/>
          </a:xfrm>
          <a:prstGeom prst="bentConnector3">
            <a:avLst>
              <a:gd name="adj1" fmla="val 3598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사각형 설명선[R] 2">
            <a:extLst>
              <a:ext uri="{FF2B5EF4-FFF2-40B4-BE49-F238E27FC236}">
                <a16:creationId xmlns:a16="http://schemas.microsoft.com/office/drawing/2014/main" id="{D12DD03D-9AE0-7D1D-0677-B7DD8A00B5AA}"/>
              </a:ext>
            </a:extLst>
          </p:cNvPr>
          <p:cNvSpPr/>
          <p:nvPr/>
        </p:nvSpPr>
        <p:spPr>
          <a:xfrm>
            <a:off x="3763715" y="919846"/>
            <a:ext cx="2271995" cy="1324308"/>
          </a:xfrm>
          <a:prstGeom prst="wedgeRoundRectCallout">
            <a:avLst>
              <a:gd name="adj1" fmla="val -58260"/>
              <a:gd name="adj2" fmla="val 70907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en-US" sz="2500" dirty="0"/>
              <a:t>Task </a:t>
            </a:r>
            <a:r>
              <a:rPr kumimoji="1" lang="ko-KR" altLang="en-US" sz="2500" dirty="0"/>
              <a:t>활성화</a:t>
            </a:r>
            <a:endParaRPr kumimoji="1" lang="ko-Kore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546948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8B071D-635B-D63C-314A-8493D1E60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ore-KR" dirty="0"/>
              <a:t>-4</a:t>
            </a:r>
            <a:r>
              <a:rPr lang="ko-KR" altLang="en-US" dirty="0"/>
              <a:t>부터 카운트다운</a:t>
            </a:r>
            <a:r>
              <a:rPr lang="en-US" altLang="ko-KR" dirty="0"/>
              <a:t>, 0</a:t>
            </a:r>
            <a:r>
              <a:rPr lang="ko-KR" altLang="en-US" dirty="0"/>
              <a:t>에서 </a:t>
            </a:r>
            <a:r>
              <a:rPr lang="en-US" altLang="ko-KR" dirty="0" err="1"/>
              <a:t>TimerISR</a:t>
            </a:r>
            <a:r>
              <a:rPr lang="ko-KR" altLang="en-US" dirty="0"/>
              <a:t>에 의해 </a:t>
            </a:r>
            <a:r>
              <a:rPr lang="en-US" altLang="ko-KR" dirty="0" err="1"/>
              <a:t>ActivateTask</a:t>
            </a:r>
            <a:r>
              <a:rPr lang="en-US" altLang="ko-KR" dirty="0"/>
              <a:t>(Task1) </a:t>
            </a:r>
            <a:r>
              <a:rPr lang="ko-KR" altLang="en-US" dirty="0"/>
              <a:t>실행</a:t>
            </a:r>
            <a:endParaRPr lang="en-US" altLang="ko-Kore-KR" dirty="0"/>
          </a:p>
          <a:p>
            <a:r>
              <a:rPr lang="en-US" altLang="ko-Kore-KR" dirty="0"/>
              <a:t>3</a:t>
            </a:r>
            <a:r>
              <a:rPr lang="ko-KR" altLang="en-US" dirty="0"/>
              <a:t>초 후 </a:t>
            </a:r>
            <a:r>
              <a:rPr lang="en-US" altLang="ko-KR" dirty="0" err="1"/>
              <a:t>ActivateTask</a:t>
            </a:r>
            <a:r>
              <a:rPr lang="en-US" altLang="ko-KR" dirty="0"/>
              <a:t>(Task2) </a:t>
            </a:r>
            <a:r>
              <a:rPr lang="ko-KR" altLang="en-US" dirty="0"/>
              <a:t>실행</a:t>
            </a:r>
            <a:r>
              <a:rPr lang="en-US" altLang="ko-KR" dirty="0"/>
              <a:t>, </a:t>
            </a:r>
            <a:r>
              <a:rPr lang="en-US" altLang="ko-Kore-KR" dirty="0"/>
              <a:t>Task2</a:t>
            </a:r>
            <a:r>
              <a:rPr lang="ko-KR" altLang="en-US" dirty="0"/>
              <a:t>의 </a:t>
            </a:r>
            <a:r>
              <a:rPr lang="en-US" altLang="ko-KR" dirty="0"/>
              <a:t>Task1 </a:t>
            </a:r>
            <a:r>
              <a:rPr lang="ko-KR" altLang="en-US" dirty="0"/>
              <a:t>선점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우선순위가 바뀌면</a:t>
            </a:r>
            <a:r>
              <a:rPr lang="en-US" altLang="ko-KR" dirty="0"/>
              <a:t>?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49E936-E2F6-E623-EEBE-0D06B2C6F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199" y="2120480"/>
            <a:ext cx="6927602" cy="34226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946FC4A-12F9-89EC-A5F9-CD923ACF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04. Task Activation</a:t>
            </a:r>
            <a:endParaRPr kumimoji="1" lang="ko-Kore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F445C5-3A76-C5E5-2679-8776E49DAE91}"/>
              </a:ext>
            </a:extLst>
          </p:cNvPr>
          <p:cNvSpPr/>
          <p:nvPr/>
        </p:nvSpPr>
        <p:spPr>
          <a:xfrm>
            <a:off x="2922586" y="3659358"/>
            <a:ext cx="1443423" cy="14150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70293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05. </a:t>
            </a:r>
            <a:r>
              <a:rPr kumimoji="1" lang="en-US" altLang="ko-Kore-KR" dirty="0" err="1"/>
              <a:t>ButtonISR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3A26F-78A1-3279-A4B8-C5003BFA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 err="1"/>
              <a:t>bsw.cpp</a:t>
            </a:r>
            <a:r>
              <a:rPr kumimoji="1" lang="en-US" altLang="ko-Kore-KR" dirty="0"/>
              <a:t> </a:t>
            </a:r>
            <a:r>
              <a:rPr kumimoji="1" lang="ko-Kore-KR" altLang="en-US" dirty="0"/>
              <a:t>수정</a:t>
            </a:r>
            <a:r>
              <a:rPr kumimoji="1" lang="en-US" altLang="ko-KR" dirty="0"/>
              <a:t>:</a:t>
            </a:r>
            <a:r>
              <a:rPr kumimoji="1" lang="ko-KR" altLang="en-US" dirty="0"/>
              <a:t> 버튼 인터럽트 관련 코드</a:t>
            </a:r>
            <a:endParaRPr kumimoji="1" lang="en-US" altLang="ko-KR" dirty="0"/>
          </a:p>
          <a:p>
            <a:r>
              <a:rPr kumimoji="1" lang="en-US" altLang="ko-Kore-KR" dirty="0"/>
              <a:t>OIL </a:t>
            </a:r>
            <a:r>
              <a:rPr kumimoji="1" lang="ko-KR" altLang="en-US" dirty="0"/>
              <a:t>수정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ButtonISR</a:t>
            </a:r>
            <a:r>
              <a:rPr kumimoji="1" lang="en-US" altLang="ko-KR" dirty="0"/>
              <a:t> </a:t>
            </a:r>
            <a:r>
              <a:rPr kumimoji="1" lang="ko-KR" altLang="en-US" dirty="0"/>
              <a:t>추가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DAC1E-0005-5E3F-35A6-A3A57A59C495}"/>
              </a:ext>
            </a:extLst>
          </p:cNvPr>
          <p:cNvSpPr txBox="1"/>
          <p:nvPr/>
        </p:nvSpPr>
        <p:spPr>
          <a:xfrm>
            <a:off x="333020" y="2321560"/>
            <a:ext cx="5762979" cy="4322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avr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io.h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avr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" altLang="ko-Kore-KR" sz="20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interrupt.h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" altLang="ko-Kore-KR" sz="20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lang="en" altLang="ko-Kore-K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#define</a:t>
            </a:r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_BV(bit) (1 &lt;&lt; (bit))</a:t>
            </a:r>
          </a:p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PORTC = _BV(PC0);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PCICR = _BV(PCIE1);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PCMSK1 = _BV(PCINT8);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EIFR = 0xff;</a:t>
            </a:r>
          </a:p>
          <a:p>
            <a:r>
              <a:rPr lang="en" altLang="ko-Kore-KR" sz="20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sei();</a:t>
            </a:r>
          </a:p>
          <a:p>
            <a:endParaRPr lang="en" altLang="ko-Kore-KR" sz="20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endParaRPr lang="en" altLang="ko-Kore-KR" sz="20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462B6-8F71-C281-EB5B-5AF838DD00E4}"/>
              </a:ext>
            </a:extLst>
          </p:cNvPr>
          <p:cNvSpPr txBox="1"/>
          <p:nvPr/>
        </p:nvSpPr>
        <p:spPr>
          <a:xfrm>
            <a:off x="6525491" y="2321560"/>
            <a:ext cx="5333488" cy="15180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20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20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ButtonISR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CATEGORY = 2;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SOURCE = </a:t>
            </a:r>
            <a:r>
              <a:rPr lang="en" altLang="ko-Kore-KR" sz="20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"PCINT1"</a:t>
            </a:r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03A0E-315D-7B8A-04C1-2841BA6A9893}"/>
              </a:ext>
            </a:extLst>
          </p:cNvPr>
          <p:cNvSpPr txBox="1"/>
          <p:nvPr/>
        </p:nvSpPr>
        <p:spPr>
          <a:xfrm>
            <a:off x="2561286" y="1970030"/>
            <a:ext cx="10963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bsw.cpp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1D1EA-318E-D70D-6356-21C41C2E7E3C}"/>
              </a:ext>
            </a:extLst>
          </p:cNvPr>
          <p:cNvSpPr txBox="1"/>
          <p:nvPr/>
        </p:nvSpPr>
        <p:spPr>
          <a:xfrm>
            <a:off x="8755610" y="1998395"/>
            <a:ext cx="10318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conf.oil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65149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C49D1-6F1F-A24D-BD86-E5086AB5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05. </a:t>
            </a:r>
            <a:r>
              <a:rPr kumimoji="1" lang="en-US" altLang="ko-Kore-KR" dirty="0" err="1"/>
              <a:t>ButtonISR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471CF-F967-4707-E70D-9DAC6DA6820A}"/>
              </a:ext>
            </a:extLst>
          </p:cNvPr>
          <p:cNvSpPr txBox="1"/>
          <p:nvPr/>
        </p:nvSpPr>
        <p:spPr>
          <a:xfrm>
            <a:off x="333022" y="1275080"/>
            <a:ext cx="4987124" cy="53691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</a:t>
            </a:r>
            <a:r>
              <a:rPr lang="en" altLang="ko-Kore-KR" sz="19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TimerISR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 = -4;</a:t>
            </a:r>
          </a:p>
          <a:p>
            <a:r>
              <a:rPr lang="en" altLang="ko-Kore-KR" sz="19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900" b="1" strike="sngStrike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1900" strike="sngStrike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(c == 0)</a:t>
            </a:r>
          </a:p>
          <a:p>
            <a:r>
              <a:rPr lang="en" altLang="ko-Kore-KR" sz="19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    </a:t>
            </a:r>
            <a:r>
              <a:rPr lang="en" altLang="ko-Kore-KR" sz="1900" strike="sngStrike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ActivateTask</a:t>
            </a:r>
            <a:r>
              <a:rPr lang="en" altLang="ko-Kore-KR" sz="1900" strike="sngStrike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(Task1);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9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19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"\n%4ld: "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ko-Kore-KR" sz="19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" altLang="ko-Kore-KR" sz="19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ko-Kore-KR" sz="1900" dirty="0">
              <a:solidFill>
                <a:srgbClr val="2A00F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68680-7166-3EF0-A5B1-52E46E8BB45E}"/>
              </a:ext>
            </a:extLst>
          </p:cNvPr>
          <p:cNvSpPr txBox="1"/>
          <p:nvPr/>
        </p:nvSpPr>
        <p:spPr>
          <a:xfrm>
            <a:off x="5517369" y="1275080"/>
            <a:ext cx="6538833" cy="53691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ISR2(</a:t>
            </a:r>
            <a:r>
              <a:rPr lang="en" altLang="ko-Kore-KR" sz="19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ButtonISR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a0;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19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DisableAllInterrupts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((PINC &amp; 0x01) != 0)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ko-Kore-KR" sz="19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" altLang="ko-Kore-KR" sz="1900" dirty="0">
              <a:solidFill>
                <a:srgbClr val="7F0055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19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printfSerial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ko-Kore-KR" sz="1900" dirty="0">
                <a:solidFill>
                  <a:srgbClr val="2A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"&lt;BUTTON ISR&gt;"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a0 = </a:t>
            </a:r>
            <a:r>
              <a:rPr lang="en" altLang="ko-Kore-KR" sz="19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analogRead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(A0); </a:t>
            </a:r>
            <a:r>
              <a:rPr lang="en" altLang="ko-Kore-KR" sz="19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read ADC value</a:t>
            </a:r>
            <a:endParaRPr lang="en" altLang="ko-Kore-KR" sz="19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(a0 &lt; 50) { </a:t>
            </a:r>
            <a:r>
              <a:rPr lang="en" altLang="ko-Kore-KR" sz="19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UP</a:t>
            </a:r>
            <a:endParaRPr lang="en" altLang="ko-Kore-KR" sz="19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" altLang="ko-Kore-KR" sz="19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ActivateTask</a:t>
            </a:r>
            <a:r>
              <a:rPr lang="en" altLang="ko-Kore-KR" sz="19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(Task1);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(a0 &lt; 200) { </a:t>
            </a:r>
            <a:r>
              <a:rPr lang="en" altLang="ko-Kore-KR" sz="19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DOWN</a:t>
            </a:r>
            <a:endParaRPr lang="en" altLang="ko-Kore-KR" sz="19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" altLang="ko-Kore-KR" sz="190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ActivateTask(Task2);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(a0 &lt; 380) { </a:t>
            </a:r>
            <a:r>
              <a:rPr lang="en" altLang="ko-Kore-KR" sz="19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LEFT</a:t>
            </a:r>
            <a:endParaRPr lang="en" altLang="ko-Kore-KR" sz="19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900" b="1" dirty="0">
                <a:solidFill>
                  <a:srgbClr val="7F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(a0 &lt; 520) { </a:t>
            </a:r>
            <a:r>
              <a:rPr lang="en" altLang="ko-Kore-KR" sz="1900" dirty="0">
                <a:solidFill>
                  <a:srgbClr val="3F7F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RIGHT</a:t>
            </a:r>
            <a:endParaRPr lang="en" altLang="ko-Kore-KR" sz="19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</a:t>
            </a:r>
            <a:r>
              <a:rPr lang="en" altLang="ko-Kore-KR" sz="19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}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ore-KR" sz="19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EnableAllInterrupts</a:t>
            </a:r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" altLang="ko-Kore-KR" sz="19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356CB-D6A1-2279-0DB5-B04506A6F9B9}"/>
              </a:ext>
            </a:extLst>
          </p:cNvPr>
          <p:cNvSpPr txBox="1"/>
          <p:nvPr/>
        </p:nvSpPr>
        <p:spPr>
          <a:xfrm>
            <a:off x="2734007" y="931595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345B7E-9B3B-A960-7969-C0EA45588E11}"/>
              </a:ext>
            </a:extLst>
          </p:cNvPr>
          <p:cNvSpPr txBox="1"/>
          <p:nvPr/>
        </p:nvSpPr>
        <p:spPr>
          <a:xfrm>
            <a:off x="8392642" y="931594"/>
            <a:ext cx="7882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 err="1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asw.c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5352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20263-2E9E-5D98-1426-CA28EDD1E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05. </a:t>
            </a:r>
            <a:r>
              <a:rPr kumimoji="1" lang="en-US" altLang="ko-Kore-KR" dirty="0" err="1"/>
              <a:t>ButtonISR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3A26F-78A1-3279-A4B8-C5003BFA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 err="1"/>
              <a:t>아두이노</a:t>
            </a:r>
            <a:r>
              <a:rPr kumimoji="1" lang="ko-KR" altLang="en-US" dirty="0"/>
              <a:t> 버튼을 누르면 </a:t>
            </a:r>
            <a:r>
              <a:rPr lang="en" altLang="ko-Kore-KR" sz="2800" dirty="0">
                <a:effectLst/>
                <a:ea typeface="Tahoma" panose="020B0604030504040204" pitchFamily="34" charset="0"/>
              </a:rPr>
              <a:t>ButtonISR</a:t>
            </a:r>
            <a:r>
              <a:rPr lang="ko-KR" altLang="en-US" sz="2800" dirty="0">
                <a:effectLst/>
              </a:rPr>
              <a:t>에 의해 </a:t>
            </a:r>
            <a:r>
              <a:rPr lang="en-US" altLang="ko-KR" dirty="0" err="1">
                <a:ea typeface="Tahoma" panose="020B0604030504040204" pitchFamily="34" charset="0"/>
              </a:rPr>
              <a:t>ActivateTask</a:t>
            </a:r>
            <a:r>
              <a:rPr lang="en-US" altLang="ko-KR" dirty="0">
                <a:ea typeface="Tahoma" panose="020B0604030504040204" pitchFamily="34" charset="0"/>
              </a:rPr>
              <a:t>() </a:t>
            </a:r>
            <a:r>
              <a:rPr lang="ko-KR" altLang="en-US" dirty="0"/>
              <a:t>실행</a:t>
            </a:r>
            <a:endParaRPr kumimoji="1" lang="en-US" altLang="ko-Kore-KR" dirty="0">
              <a:ea typeface="Tahoma" panose="020B060403050404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FA18F2-DC84-F935-4812-7A83AE3CA8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396"/>
          <a:stretch/>
        </p:blipFill>
        <p:spPr>
          <a:xfrm>
            <a:off x="906641" y="1725526"/>
            <a:ext cx="7594263" cy="476747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CF74545-723B-E47C-AF64-2FEEA10F5538}"/>
              </a:ext>
            </a:extLst>
          </p:cNvPr>
          <p:cNvSpPr/>
          <p:nvPr/>
        </p:nvSpPr>
        <p:spPr>
          <a:xfrm>
            <a:off x="916966" y="3530331"/>
            <a:ext cx="3590865" cy="193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AF7E2E-AC12-7657-CF30-E0C039F9721A}"/>
              </a:ext>
            </a:extLst>
          </p:cNvPr>
          <p:cNvSpPr/>
          <p:nvPr/>
        </p:nvSpPr>
        <p:spPr>
          <a:xfrm>
            <a:off x="916691" y="4968435"/>
            <a:ext cx="3590865" cy="193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806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</a:t>
            </a:r>
          </a:p>
        </p:txBody>
      </p:sp>
      <p:pic>
        <p:nvPicPr>
          <p:cNvPr id="12" name="Picture 3" descr="MCj0363168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4326" y="2506664"/>
            <a:ext cx="1401763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1513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14085</TotalTime>
  <Words>1176</Words>
  <Application>Microsoft Office PowerPoint</Application>
  <PresentationFormat>와이드스크린</PresentationFormat>
  <Paragraphs>301</Paragraphs>
  <Slides>28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맑은 고딕</vt:lpstr>
      <vt:lpstr>Arial</vt:lpstr>
      <vt:lpstr>Consolas</vt:lpstr>
      <vt:lpstr>Tahoma</vt:lpstr>
      <vt:lpstr>Office 테마</vt:lpstr>
      <vt:lpstr>Computing Platform for Autonomous Driving (CP4AD)</vt:lpstr>
      <vt:lpstr>Erika Enterprise</vt:lpstr>
      <vt:lpstr>Visual Studio Code</vt:lpstr>
      <vt:lpstr>CP4AD RTOS Practice github</vt:lpstr>
      <vt:lpstr>Erika Enterprise Build Process</vt:lpstr>
      <vt:lpstr>Erika Enterprise Build Process</vt:lpstr>
      <vt:lpstr>Erika Enterprise Build Process</vt:lpstr>
      <vt:lpstr>Erika Enterprise Build Process</vt:lpstr>
      <vt:lpstr>Erika Enterprise Build Process</vt:lpstr>
      <vt:lpstr>Erika Enterprise Build Process</vt:lpstr>
      <vt:lpstr>Erika Enterprise Project Structure</vt:lpstr>
      <vt:lpstr>Erika Enterprise Project Structure</vt:lpstr>
      <vt:lpstr>Erika Enterprise Project Structure</vt:lpstr>
      <vt:lpstr>Erika Enterprise Project Structure</vt:lpstr>
      <vt:lpstr>Erika Enterprise Project Structure</vt:lpstr>
      <vt:lpstr>Erika Enterprise Project Structure</vt:lpstr>
      <vt:lpstr>Erika Enterprise Project Structure</vt:lpstr>
      <vt:lpstr>02. Timer</vt:lpstr>
      <vt:lpstr>02. Timer</vt:lpstr>
      <vt:lpstr>02. Timer</vt:lpstr>
      <vt:lpstr>03. Tasks</vt:lpstr>
      <vt:lpstr>03. Tasks</vt:lpstr>
      <vt:lpstr>04. Task Activation</vt:lpstr>
      <vt:lpstr>04. Task Activation</vt:lpstr>
      <vt:lpstr>05. ButtonISR</vt:lpstr>
      <vt:lpstr>05. ButtonISR</vt:lpstr>
      <vt:lpstr>05. ButtonISR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Operating System (Day 1 Lab)</dc:title>
  <dc:subject/>
  <dc:creator>jongchank</dc:creator>
  <cp:keywords/>
  <dc:description/>
  <cp:lastModifiedBy>안하민(대학원생-자동차IT융합전공)</cp:lastModifiedBy>
  <cp:revision>817</cp:revision>
  <cp:lastPrinted>2018-03-07T02:55:25Z</cp:lastPrinted>
  <dcterms:created xsi:type="dcterms:W3CDTF">2018-03-06T00:24:46Z</dcterms:created>
  <dcterms:modified xsi:type="dcterms:W3CDTF">2025-02-17T06:34:18Z</dcterms:modified>
  <cp:category/>
</cp:coreProperties>
</file>